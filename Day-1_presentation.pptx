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8288000" cy="10287000"/>
  <p:notesSz cx="6858000" cy="9144000"/>
  <p:embeddedFontLst>
    <p:embeddedFont>
      <p:font typeface="Be Vietnam Ultra-Bold" charset="1" panose="00000900000000000000"/>
      <p:regular r:id="rId61"/>
    </p:embeddedFont>
    <p:embeddedFont>
      <p:font typeface="Literata Bold" charset="1" panose="00000000000000000000"/>
      <p:regular r:id="rId62"/>
    </p:embeddedFont>
    <p:embeddedFont>
      <p:font typeface="Canva Sans Bold" charset="1" panose="020B0803030501040103"/>
      <p:regular r:id="rId63"/>
    </p:embeddedFont>
    <p:embeddedFont>
      <p:font typeface="Canva Sans" charset="1" panose="020B0503030501040103"/>
      <p:regular r:id="rId64"/>
    </p:embeddedFont>
    <p:embeddedFont>
      <p:font typeface="Be Vietnam" charset="1" panose="00000500000000000000"/>
      <p:regular r:id="rId65"/>
    </p:embeddedFont>
    <p:embeddedFont>
      <p:font typeface="Literata" charset="1" panose="0000000000000000000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44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Upscale Image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727761"/>
            <a:ext cx="8115300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Unlocking the Power of AI,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One Neuron at a Time!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42192" y="7864476"/>
            <a:ext cx="8617108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Build your own Neural Net from </a:t>
            </a:r>
            <a:r>
              <a:rPr lang="en-US" b="true" sz="40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Scratch</a:t>
            </a:r>
            <a:r>
              <a:rPr lang="en-US" b="true" sz="40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!!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3165026"/>
            <a:ext cx="9144000" cy="7464116"/>
          </a:xfrm>
          <a:custGeom>
            <a:avLst/>
            <a:gdLst/>
            <a:ahLst/>
            <a:cxnLst/>
            <a:rect r="r" b="b" t="t" l="l"/>
            <a:pathLst>
              <a:path h="7464116" w="9144000">
                <a:moveTo>
                  <a:pt x="0" y="0"/>
                </a:moveTo>
                <a:lnTo>
                  <a:pt x="9144000" y="0"/>
                </a:lnTo>
                <a:lnTo>
                  <a:pt x="9144000" y="7464116"/>
                </a:lnTo>
                <a:lnTo>
                  <a:pt x="0" y="7464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9" t="0" r="-249" b="-9274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53525" y="3165026"/>
            <a:ext cx="9111886" cy="7121974"/>
          </a:xfrm>
          <a:custGeom>
            <a:avLst/>
            <a:gdLst/>
            <a:ahLst/>
            <a:cxnLst/>
            <a:rect r="r" b="b" t="t" l="l"/>
            <a:pathLst>
              <a:path h="7121974" w="9111886">
                <a:moveTo>
                  <a:pt x="0" y="0"/>
                </a:moveTo>
                <a:lnTo>
                  <a:pt x="9111886" y="0"/>
                </a:lnTo>
                <a:lnTo>
                  <a:pt x="9111886" y="7121974"/>
                </a:lnTo>
                <a:lnTo>
                  <a:pt x="0" y="7121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0298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868" y="346117"/>
            <a:ext cx="14867505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 will you build in this session?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29418" y="4520504"/>
            <a:ext cx="8177757" cy="5766496"/>
          </a:xfrm>
          <a:custGeom>
            <a:avLst/>
            <a:gdLst/>
            <a:ahLst/>
            <a:cxnLst/>
            <a:rect r="r" b="b" t="t" l="l"/>
            <a:pathLst>
              <a:path h="5766496" w="8177757">
                <a:moveTo>
                  <a:pt x="0" y="0"/>
                </a:moveTo>
                <a:lnTo>
                  <a:pt x="8177757" y="0"/>
                </a:lnTo>
                <a:lnTo>
                  <a:pt x="8177757" y="5766496"/>
                </a:lnTo>
                <a:lnTo>
                  <a:pt x="0" y="5766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2902" b="-917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388" y="0"/>
            <a:ext cx="10377806" cy="10287000"/>
          </a:xfrm>
          <a:custGeom>
            <a:avLst/>
            <a:gdLst/>
            <a:ahLst/>
            <a:cxnLst/>
            <a:rect r="r" b="b" t="t" l="l"/>
            <a:pathLst>
              <a:path h="10287000" w="10377806">
                <a:moveTo>
                  <a:pt x="0" y="0"/>
                </a:moveTo>
                <a:lnTo>
                  <a:pt x="10377806" y="0"/>
                </a:lnTo>
                <a:lnTo>
                  <a:pt x="103778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56047" y="0"/>
            <a:ext cx="11431953" cy="4985320"/>
          </a:xfrm>
          <a:custGeom>
            <a:avLst/>
            <a:gdLst/>
            <a:ahLst/>
            <a:cxnLst/>
            <a:rect r="r" b="b" t="t" l="l"/>
            <a:pathLst>
              <a:path h="4985320" w="11431953">
                <a:moveTo>
                  <a:pt x="0" y="0"/>
                </a:moveTo>
                <a:lnTo>
                  <a:pt x="11431953" y="0"/>
                </a:lnTo>
                <a:lnTo>
                  <a:pt x="11431953" y="4985320"/>
                </a:lnTo>
                <a:lnTo>
                  <a:pt x="0" y="49853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21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2216" y="3287759"/>
            <a:ext cx="3629292" cy="3713160"/>
          </a:xfrm>
          <a:custGeom>
            <a:avLst/>
            <a:gdLst/>
            <a:ahLst/>
            <a:cxnLst/>
            <a:rect r="r" b="b" t="t" l="l"/>
            <a:pathLst>
              <a:path h="3713160" w="3629292">
                <a:moveTo>
                  <a:pt x="0" y="0"/>
                </a:moveTo>
                <a:lnTo>
                  <a:pt x="3629292" y="0"/>
                </a:lnTo>
                <a:lnTo>
                  <a:pt x="3629292" y="3713160"/>
                </a:lnTo>
                <a:lnTo>
                  <a:pt x="0" y="3713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01" t="-27635" r="0" b="-288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44634" y="3287759"/>
            <a:ext cx="2854492" cy="3713160"/>
          </a:xfrm>
          <a:custGeom>
            <a:avLst/>
            <a:gdLst/>
            <a:ahLst/>
            <a:cxnLst/>
            <a:rect r="r" b="b" t="t" l="l"/>
            <a:pathLst>
              <a:path h="3713160" w="2854492">
                <a:moveTo>
                  <a:pt x="0" y="0"/>
                </a:moveTo>
                <a:lnTo>
                  <a:pt x="2854492" y="0"/>
                </a:lnTo>
                <a:lnTo>
                  <a:pt x="2854492" y="3713160"/>
                </a:lnTo>
                <a:lnTo>
                  <a:pt x="0" y="3713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5753" y="3239174"/>
            <a:ext cx="3023339" cy="3841118"/>
          </a:xfrm>
          <a:custGeom>
            <a:avLst/>
            <a:gdLst/>
            <a:ahLst/>
            <a:cxnLst/>
            <a:rect r="r" b="b" t="t" l="l"/>
            <a:pathLst>
              <a:path h="3841118" w="3023339">
                <a:moveTo>
                  <a:pt x="0" y="0"/>
                </a:moveTo>
                <a:lnTo>
                  <a:pt x="3023339" y="0"/>
                </a:lnTo>
                <a:lnTo>
                  <a:pt x="3023339" y="3841118"/>
                </a:lnTo>
                <a:lnTo>
                  <a:pt x="0" y="384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775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47069" y="3239174"/>
            <a:ext cx="3145759" cy="3761744"/>
          </a:xfrm>
          <a:custGeom>
            <a:avLst/>
            <a:gdLst/>
            <a:ahLst/>
            <a:cxnLst/>
            <a:rect r="r" b="b" t="t" l="l"/>
            <a:pathLst>
              <a:path h="3761744" w="3145759">
                <a:moveTo>
                  <a:pt x="0" y="0"/>
                </a:moveTo>
                <a:lnTo>
                  <a:pt x="3145759" y="0"/>
                </a:lnTo>
                <a:lnTo>
                  <a:pt x="3145759" y="3761745"/>
                </a:lnTo>
                <a:lnTo>
                  <a:pt x="0" y="37617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47539" y="895350"/>
            <a:ext cx="5522473" cy="118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3"/>
              </a:lnSpc>
              <a:spcBef>
                <a:spcPct val="0"/>
              </a:spcBef>
            </a:pPr>
            <a:r>
              <a:rPr lang="en-US" b="true" sz="6930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Who are we?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8908" y="7274364"/>
            <a:ext cx="4325123" cy="59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353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Hamsini Natarajan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79858" y="7274364"/>
            <a:ext cx="3384044" cy="59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353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Mohit Talgotra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3027" y="7274364"/>
            <a:ext cx="4473842" cy="59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353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Yashwanth Erukulla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58131" y="7274364"/>
            <a:ext cx="2371799" cy="59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353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Prapti Siva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48877" y="8307839"/>
            <a:ext cx="11868301" cy="116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9"/>
              </a:lnSpc>
            </a:pPr>
            <a:r>
              <a:rPr lang="en-US" sz="33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&amp; ML, Senior Core Tech Members</a:t>
            </a:r>
          </a:p>
          <a:p>
            <a:pPr algn="ctr">
              <a:lnSpc>
                <a:spcPts val="4669"/>
              </a:lnSpc>
            </a:pPr>
            <a:r>
              <a:rPr lang="en-US" sz="33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Computer Society of India-VIT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93890" y="2062951"/>
            <a:ext cx="722977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and why should you listen to us?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787" y="346117"/>
            <a:ext cx="15040776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 is Machine Learning?</a:t>
            </a:r>
          </a:p>
          <a:p>
            <a:pPr algn="ctr">
              <a:lnSpc>
                <a:spcPts val="105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898817"/>
            <a:ext cx="18288000" cy="470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Machine Learning is defined as computational methods that uses experience to improve performance or to make accurate predictions.</a:t>
            </a: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Where is it used: 🤔</a:t>
            </a: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Email, Netflix, Spotify, Amazon, Chatbots, Customer Support and more</a:t>
            </a:r>
          </a:p>
          <a:p>
            <a:pPr algn="ctr">
              <a:lnSpc>
                <a:spcPts val="53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15615" y="-310646"/>
            <a:ext cx="10114144" cy="10728298"/>
          </a:xfrm>
          <a:custGeom>
            <a:avLst/>
            <a:gdLst/>
            <a:ahLst/>
            <a:cxnLst/>
            <a:rect r="r" b="b" t="t" l="l"/>
            <a:pathLst>
              <a:path h="10728298" w="10114144">
                <a:moveTo>
                  <a:pt x="0" y="0"/>
                </a:moveTo>
                <a:lnTo>
                  <a:pt x="10114143" y="0"/>
                </a:lnTo>
                <a:lnTo>
                  <a:pt x="10114143" y="10728298"/>
                </a:lnTo>
                <a:lnTo>
                  <a:pt x="0" y="10728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7" t="0" r="-587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6775" y="0"/>
            <a:ext cx="18263144" cy="10436591"/>
          </a:xfrm>
          <a:custGeom>
            <a:avLst/>
            <a:gdLst/>
            <a:ahLst/>
            <a:cxnLst/>
            <a:rect r="r" b="b" t="t" l="l"/>
            <a:pathLst>
              <a:path h="10436591" w="18263144">
                <a:moveTo>
                  <a:pt x="0" y="0"/>
                </a:moveTo>
                <a:lnTo>
                  <a:pt x="18263144" y="0"/>
                </a:lnTo>
                <a:lnTo>
                  <a:pt x="18263144" y="10436591"/>
                </a:lnTo>
                <a:lnTo>
                  <a:pt x="0" y="10436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32" t="0" r="-10253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787" y="346117"/>
            <a:ext cx="150407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Supervised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101696"/>
            <a:ext cx="18288000" cy="808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Our goal is to create a model that can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learn the relationship between x (inputs) and y (outputs)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so that it can predict y for new data.</a:t>
            </a:r>
          </a:p>
          <a:p>
            <a:pPr algn="l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This process is called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Supervised Learning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where the model learns from labeled examples (data with known outcomes).</a:t>
            </a:r>
          </a:p>
          <a:p>
            <a:pPr algn="l">
              <a:lnSpc>
                <a:spcPts val="5354"/>
              </a:lnSpc>
            </a:pP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If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y is a number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this is called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Regression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 The model tries to find a continuous pattern, such as drawing a best-fit line through points.</a:t>
            </a:r>
          </a:p>
          <a:p>
            <a:pPr algn="l">
              <a:lnSpc>
                <a:spcPts val="5354"/>
              </a:lnSpc>
            </a:pP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If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y is a category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, this is called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Classification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 The model learns decision rules to separate different groups.</a:t>
            </a:r>
          </a:p>
          <a:p>
            <a:pPr algn="l">
              <a:lnSpc>
                <a:spcPts val="5354"/>
              </a:lnSpc>
            </a:pPr>
          </a:p>
          <a:p>
            <a:pPr algn="l">
              <a:lnSpc>
                <a:spcPts val="535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873973" y="381389"/>
            <a:ext cx="12712405" cy="1358207"/>
            <a:chOff x="0" y="0"/>
            <a:chExt cx="3348123" cy="3577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48123" cy="357717"/>
            </a:xfrm>
            <a:custGeom>
              <a:avLst/>
              <a:gdLst/>
              <a:ahLst/>
              <a:cxnLst/>
              <a:rect r="r" b="b" t="t" l="l"/>
              <a:pathLst>
                <a:path h="357717" w="3348123">
                  <a:moveTo>
                    <a:pt x="31059" y="0"/>
                  </a:moveTo>
                  <a:lnTo>
                    <a:pt x="3317064" y="0"/>
                  </a:lnTo>
                  <a:cubicBezTo>
                    <a:pt x="3334217" y="0"/>
                    <a:pt x="3348123" y="13906"/>
                    <a:pt x="3348123" y="31059"/>
                  </a:cubicBezTo>
                  <a:lnTo>
                    <a:pt x="3348123" y="326658"/>
                  </a:lnTo>
                  <a:cubicBezTo>
                    <a:pt x="3348123" y="343811"/>
                    <a:pt x="3334217" y="357717"/>
                    <a:pt x="3317064" y="357717"/>
                  </a:cubicBezTo>
                  <a:lnTo>
                    <a:pt x="31059" y="357717"/>
                  </a:lnTo>
                  <a:cubicBezTo>
                    <a:pt x="13906" y="357717"/>
                    <a:pt x="0" y="343811"/>
                    <a:pt x="0" y="326658"/>
                  </a:cubicBezTo>
                  <a:lnTo>
                    <a:pt x="0" y="31059"/>
                  </a:lnTo>
                  <a:cubicBezTo>
                    <a:pt x="0" y="13906"/>
                    <a:pt x="13906" y="0"/>
                    <a:pt x="310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48123" cy="395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5567" y="2459754"/>
            <a:ext cx="6549897" cy="5367492"/>
          </a:xfrm>
          <a:custGeom>
            <a:avLst/>
            <a:gdLst/>
            <a:ahLst/>
            <a:cxnLst/>
            <a:rect r="r" b="b" t="t" l="l"/>
            <a:pathLst>
              <a:path h="5367492" w="6549897">
                <a:moveTo>
                  <a:pt x="0" y="0"/>
                </a:moveTo>
                <a:lnTo>
                  <a:pt x="6549896" y="0"/>
                </a:lnTo>
                <a:lnTo>
                  <a:pt x="6549896" y="5367492"/>
                </a:lnTo>
                <a:lnTo>
                  <a:pt x="0" y="5367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554505"/>
            <a:ext cx="8263801" cy="5272741"/>
          </a:xfrm>
          <a:custGeom>
            <a:avLst/>
            <a:gdLst/>
            <a:ahLst/>
            <a:cxnLst/>
            <a:rect r="r" b="b" t="t" l="l"/>
            <a:pathLst>
              <a:path h="5272741" w="8263801">
                <a:moveTo>
                  <a:pt x="0" y="0"/>
                </a:moveTo>
                <a:lnTo>
                  <a:pt x="8263801" y="0"/>
                </a:lnTo>
                <a:lnTo>
                  <a:pt x="8263801" y="5272741"/>
                </a:lnTo>
                <a:lnTo>
                  <a:pt x="0" y="5272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96756" y="497429"/>
            <a:ext cx="628751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Regression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32141" y="497429"/>
            <a:ext cx="6287518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Classification</a:t>
            </a:r>
          </a:p>
          <a:p>
            <a:pPr algn="ctr">
              <a:lnSpc>
                <a:spcPts val="105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18600" y="418843"/>
            <a:ext cx="14423150" cy="250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68"/>
              </a:lnSpc>
            </a:pPr>
            <a:r>
              <a:rPr lang="en-US" sz="7192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Unsupervised Learning</a:t>
            </a:r>
          </a:p>
          <a:p>
            <a:pPr algn="ctr">
              <a:lnSpc>
                <a:spcPts val="1006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0070" y="2447576"/>
            <a:ext cx="18007930" cy="876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goal is to discover hidden patterns or meaningful relationship in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unlabeled data 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understand the overall structure of the dataset.</a:t>
            </a:r>
          </a:p>
          <a:p>
            <a:pPr algn="l">
              <a:lnSpc>
                <a:spcPts val="5354"/>
              </a:lnSpc>
            </a:pP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Clustering: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Identifies meaningful groupings within the data, such as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k-means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or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Expectation Maximization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l">
              <a:lnSpc>
                <a:spcPts val="5354"/>
              </a:lnSpc>
            </a:pP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Dimensionality Reduction: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Compresses data while retaining important features, useful for downstream tasks (e.g.,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PCA, LDA, auto-encoders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).</a:t>
            </a:r>
          </a:p>
          <a:p>
            <a:pPr algn="l">
              <a:lnSpc>
                <a:spcPts val="5354"/>
              </a:lnSpc>
            </a:pP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Correlation Analysis: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Finds meaningful relationships between variables, such as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concordance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or </a:t>
            </a: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Pearson’s correlation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l">
              <a:lnSpc>
                <a:spcPts val="5354"/>
              </a:lnSpc>
            </a:pPr>
          </a:p>
          <a:p>
            <a:pPr algn="l">
              <a:lnSpc>
                <a:spcPts val="535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873973" y="381389"/>
            <a:ext cx="12712405" cy="1358207"/>
            <a:chOff x="0" y="0"/>
            <a:chExt cx="3348123" cy="3577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48123" cy="357717"/>
            </a:xfrm>
            <a:custGeom>
              <a:avLst/>
              <a:gdLst/>
              <a:ahLst/>
              <a:cxnLst/>
              <a:rect r="r" b="b" t="t" l="l"/>
              <a:pathLst>
                <a:path h="357717" w="3348123">
                  <a:moveTo>
                    <a:pt x="31059" y="0"/>
                  </a:moveTo>
                  <a:lnTo>
                    <a:pt x="3317064" y="0"/>
                  </a:lnTo>
                  <a:cubicBezTo>
                    <a:pt x="3334217" y="0"/>
                    <a:pt x="3348123" y="13906"/>
                    <a:pt x="3348123" y="31059"/>
                  </a:cubicBezTo>
                  <a:lnTo>
                    <a:pt x="3348123" y="326658"/>
                  </a:lnTo>
                  <a:cubicBezTo>
                    <a:pt x="3348123" y="343811"/>
                    <a:pt x="3334217" y="357717"/>
                    <a:pt x="3317064" y="357717"/>
                  </a:cubicBezTo>
                  <a:lnTo>
                    <a:pt x="31059" y="357717"/>
                  </a:lnTo>
                  <a:cubicBezTo>
                    <a:pt x="13906" y="357717"/>
                    <a:pt x="0" y="343811"/>
                    <a:pt x="0" y="326658"/>
                  </a:cubicBezTo>
                  <a:lnTo>
                    <a:pt x="0" y="31059"/>
                  </a:lnTo>
                  <a:cubicBezTo>
                    <a:pt x="0" y="13906"/>
                    <a:pt x="13906" y="0"/>
                    <a:pt x="310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48123" cy="395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5078" y="2233022"/>
            <a:ext cx="14877845" cy="5820957"/>
          </a:xfrm>
          <a:custGeom>
            <a:avLst/>
            <a:gdLst/>
            <a:ahLst/>
            <a:cxnLst/>
            <a:rect r="r" b="b" t="t" l="l"/>
            <a:pathLst>
              <a:path h="5820957" w="14877845">
                <a:moveTo>
                  <a:pt x="0" y="0"/>
                </a:moveTo>
                <a:lnTo>
                  <a:pt x="14877844" y="0"/>
                </a:lnTo>
                <a:lnTo>
                  <a:pt x="14877844" y="5820956"/>
                </a:lnTo>
                <a:lnTo>
                  <a:pt x="0" y="582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58793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74513" y="4056007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787" y="346117"/>
            <a:ext cx="150407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Reinforcement Learning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7789" y="2328265"/>
            <a:ext cx="17900211" cy="943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An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agent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interacts with an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environment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learns by receiving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rewards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(positive values) or </a:t>
            </a:r>
            <a:r>
              <a:rPr lang="en-US" sz="382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punishments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(negative values) based on its actions. The goal is to maximize long-term rewards by making the best decisions over time. Widely applied in robotics, gaming, and autonomous systems where continuous learning is essential.</a:t>
            </a:r>
          </a:p>
          <a:p>
            <a:pPr algn="l">
              <a:lnSpc>
                <a:spcPts val="5354"/>
              </a:lnSpc>
            </a:pP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Walking Robots: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Reward for each step, punishment for falling.</a:t>
            </a: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Game AI (e.g., AlphaGo):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Learning optimal strategies through trial and error.</a:t>
            </a:r>
          </a:p>
          <a:p>
            <a:pPr algn="l" marL="825737" indent="-412868" lvl="1">
              <a:lnSpc>
                <a:spcPts val="5354"/>
              </a:lnSpc>
              <a:buFont typeface="Arial"/>
              <a:buChar char="•"/>
            </a:pPr>
            <a:r>
              <a:rPr lang="en-US" b="true" sz="3824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Self-Driving Cars:</a:t>
            </a:r>
            <a:r>
              <a:rPr lang="en-US" sz="382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Making real-time decisions based on past experiences.</a:t>
            </a:r>
          </a:p>
          <a:p>
            <a:pPr algn="l">
              <a:lnSpc>
                <a:spcPts val="5354"/>
              </a:lnSpc>
            </a:pPr>
          </a:p>
          <a:p>
            <a:pPr algn="l">
              <a:lnSpc>
                <a:spcPts val="5354"/>
              </a:lnSpc>
            </a:pPr>
          </a:p>
          <a:p>
            <a:pPr algn="l">
              <a:lnSpc>
                <a:spcPts val="535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787797" y="488992"/>
            <a:ext cx="12712405" cy="1358207"/>
            <a:chOff x="0" y="0"/>
            <a:chExt cx="3348123" cy="3577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48123" cy="357717"/>
            </a:xfrm>
            <a:custGeom>
              <a:avLst/>
              <a:gdLst/>
              <a:ahLst/>
              <a:cxnLst/>
              <a:rect r="r" b="b" t="t" l="l"/>
              <a:pathLst>
                <a:path h="357717" w="3348123">
                  <a:moveTo>
                    <a:pt x="31059" y="0"/>
                  </a:moveTo>
                  <a:lnTo>
                    <a:pt x="3317064" y="0"/>
                  </a:lnTo>
                  <a:cubicBezTo>
                    <a:pt x="3334217" y="0"/>
                    <a:pt x="3348123" y="13906"/>
                    <a:pt x="3348123" y="31059"/>
                  </a:cubicBezTo>
                  <a:lnTo>
                    <a:pt x="3348123" y="326658"/>
                  </a:lnTo>
                  <a:cubicBezTo>
                    <a:pt x="3348123" y="343811"/>
                    <a:pt x="3334217" y="357717"/>
                    <a:pt x="3317064" y="357717"/>
                  </a:cubicBezTo>
                  <a:lnTo>
                    <a:pt x="31059" y="357717"/>
                  </a:lnTo>
                  <a:cubicBezTo>
                    <a:pt x="13906" y="357717"/>
                    <a:pt x="0" y="343811"/>
                    <a:pt x="0" y="326658"/>
                  </a:cubicBezTo>
                  <a:lnTo>
                    <a:pt x="0" y="31059"/>
                  </a:lnTo>
                  <a:cubicBezTo>
                    <a:pt x="0" y="13906"/>
                    <a:pt x="13906" y="0"/>
                    <a:pt x="310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48123" cy="395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0673" y="3160906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7" y="0"/>
                </a:lnTo>
                <a:lnTo>
                  <a:pt x="13511077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74580" y="580414"/>
            <a:ext cx="9888139" cy="102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b="true" sz="7556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Regression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123" y="3065656"/>
            <a:ext cx="17155753" cy="52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3"/>
              </a:lnSpc>
            </a:pP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Regression is a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statistical and machine learning technique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used to analyze the relationship between variables and make predictions. It helps in understanding how the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dependent variable (output)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changes based on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independent variables (inputs)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ctr">
              <a:lnSpc>
                <a:spcPts val="698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670362" y="456589"/>
            <a:ext cx="9667597" cy="1363504"/>
            <a:chOff x="0" y="0"/>
            <a:chExt cx="2546198" cy="359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6198" cy="359112"/>
            </a:xfrm>
            <a:custGeom>
              <a:avLst/>
              <a:gdLst/>
              <a:ahLst/>
              <a:cxnLst/>
              <a:rect r="r" b="b" t="t" l="l"/>
              <a:pathLst>
                <a:path h="359112" w="2546198">
                  <a:moveTo>
                    <a:pt x="40841" y="0"/>
                  </a:moveTo>
                  <a:lnTo>
                    <a:pt x="2505357" y="0"/>
                  </a:lnTo>
                  <a:cubicBezTo>
                    <a:pt x="2516189" y="0"/>
                    <a:pt x="2526577" y="4303"/>
                    <a:pt x="2534236" y="11962"/>
                  </a:cubicBezTo>
                  <a:cubicBezTo>
                    <a:pt x="2541896" y="19621"/>
                    <a:pt x="2546198" y="30010"/>
                    <a:pt x="2546198" y="40841"/>
                  </a:cubicBezTo>
                  <a:lnTo>
                    <a:pt x="2546198" y="318271"/>
                  </a:lnTo>
                  <a:cubicBezTo>
                    <a:pt x="2546198" y="329103"/>
                    <a:pt x="2541896" y="339491"/>
                    <a:pt x="2534236" y="347150"/>
                  </a:cubicBezTo>
                  <a:cubicBezTo>
                    <a:pt x="2526577" y="354809"/>
                    <a:pt x="2516189" y="359112"/>
                    <a:pt x="2505357" y="359112"/>
                  </a:cubicBezTo>
                  <a:lnTo>
                    <a:pt x="40841" y="359112"/>
                  </a:lnTo>
                  <a:cubicBezTo>
                    <a:pt x="18285" y="359112"/>
                    <a:pt x="0" y="340827"/>
                    <a:pt x="0" y="318271"/>
                  </a:cubicBezTo>
                  <a:lnTo>
                    <a:pt x="0" y="40841"/>
                  </a:lnTo>
                  <a:cubicBezTo>
                    <a:pt x="0" y="18285"/>
                    <a:pt x="18285" y="0"/>
                    <a:pt x="408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46198" cy="397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0673" y="3160906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7" y="0"/>
                </a:lnTo>
                <a:lnTo>
                  <a:pt x="13511077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90032" y="413318"/>
            <a:ext cx="9107935" cy="93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69"/>
              </a:lnSpc>
              <a:spcBef>
                <a:spcPct val="0"/>
              </a:spcBef>
            </a:pPr>
            <a:r>
              <a:rPr lang="en-US" b="true" sz="696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Types of Regression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23640" y="2030850"/>
            <a:ext cx="14240719" cy="803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6"/>
              </a:lnSpc>
            </a:pPr>
            <a:r>
              <a:rPr lang="en-US" sz="4140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Simple Linear Regression </a:t>
            </a:r>
            <a:r>
              <a:rPr lang="en-US" sz="414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–  Using one input variable (one independent variable) to predict an output (one dependent variable) value. </a:t>
            </a:r>
          </a:p>
          <a:p>
            <a:pPr algn="l">
              <a:lnSpc>
                <a:spcPts val="5796"/>
              </a:lnSpc>
            </a:pPr>
            <a:r>
              <a:rPr lang="en-US" sz="414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       S</a:t>
            </a:r>
            <a:r>
              <a:rPr lang="en-US" sz="414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traight-line equation:  y=mx+b</a:t>
            </a:r>
          </a:p>
          <a:p>
            <a:pPr algn="l">
              <a:lnSpc>
                <a:spcPts val="5796"/>
              </a:lnSpc>
            </a:pPr>
          </a:p>
          <a:p>
            <a:pPr algn="l">
              <a:lnSpc>
                <a:spcPts val="5796"/>
              </a:lnSpc>
            </a:pPr>
            <a:r>
              <a:rPr lang="en-US" sz="4140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Multiple Regression</a:t>
            </a:r>
            <a:r>
              <a:rPr lang="en-US" sz="414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– Uses multiple input variables to predict an outcome (like our flight delay example).</a:t>
            </a:r>
          </a:p>
          <a:p>
            <a:pPr algn="l">
              <a:lnSpc>
                <a:spcPts val="5796"/>
              </a:lnSpc>
            </a:pPr>
          </a:p>
          <a:p>
            <a:pPr algn="l">
              <a:lnSpc>
                <a:spcPts val="5796"/>
              </a:lnSpc>
            </a:pPr>
            <a:r>
              <a:rPr lang="en-US" sz="4140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Logistic Regression</a:t>
            </a:r>
            <a:r>
              <a:rPr lang="en-US" sz="414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– Used for classification (e.g., predicting if a flight will be delayed or on time).</a:t>
            </a:r>
          </a:p>
          <a:p>
            <a:pPr algn="l">
              <a:lnSpc>
                <a:spcPts val="579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401508" y="299018"/>
            <a:ext cx="9093869" cy="1149019"/>
            <a:chOff x="0" y="0"/>
            <a:chExt cx="2395093" cy="3026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95093" cy="302622"/>
            </a:xfrm>
            <a:custGeom>
              <a:avLst/>
              <a:gdLst/>
              <a:ahLst/>
              <a:cxnLst/>
              <a:rect r="r" b="b" t="t" l="l"/>
              <a:pathLst>
                <a:path h="302622" w="2395093">
                  <a:moveTo>
                    <a:pt x="43418" y="0"/>
                  </a:moveTo>
                  <a:lnTo>
                    <a:pt x="2351675" y="0"/>
                  </a:lnTo>
                  <a:cubicBezTo>
                    <a:pt x="2363190" y="0"/>
                    <a:pt x="2374234" y="4574"/>
                    <a:pt x="2382376" y="12717"/>
                  </a:cubicBezTo>
                  <a:cubicBezTo>
                    <a:pt x="2390519" y="20859"/>
                    <a:pt x="2395093" y="31903"/>
                    <a:pt x="2395093" y="43418"/>
                  </a:cubicBezTo>
                  <a:lnTo>
                    <a:pt x="2395093" y="259204"/>
                  </a:lnTo>
                  <a:cubicBezTo>
                    <a:pt x="2395093" y="270719"/>
                    <a:pt x="2390519" y="281763"/>
                    <a:pt x="2382376" y="289905"/>
                  </a:cubicBezTo>
                  <a:cubicBezTo>
                    <a:pt x="2374234" y="298048"/>
                    <a:pt x="2363190" y="302622"/>
                    <a:pt x="2351675" y="302622"/>
                  </a:cubicBezTo>
                  <a:lnTo>
                    <a:pt x="43418" y="302622"/>
                  </a:lnTo>
                  <a:cubicBezTo>
                    <a:pt x="31903" y="302622"/>
                    <a:pt x="20859" y="298048"/>
                    <a:pt x="12717" y="289905"/>
                  </a:cubicBezTo>
                  <a:cubicBezTo>
                    <a:pt x="4574" y="281763"/>
                    <a:pt x="0" y="270719"/>
                    <a:pt x="0" y="259204"/>
                  </a:cubicBezTo>
                  <a:lnTo>
                    <a:pt x="0" y="43418"/>
                  </a:lnTo>
                  <a:cubicBezTo>
                    <a:pt x="0" y="31903"/>
                    <a:pt x="4574" y="20859"/>
                    <a:pt x="12717" y="12717"/>
                  </a:cubicBezTo>
                  <a:cubicBezTo>
                    <a:pt x="20859" y="4574"/>
                    <a:pt x="31903" y="0"/>
                    <a:pt x="434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95093" cy="340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742" y="332304"/>
            <a:ext cx="1158258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Flight Delay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742" y="2470936"/>
            <a:ext cx="9211115" cy="920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Regression Equation:</a:t>
            </a:r>
          </a:p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y=w1x1 + w2x2 + w3x3 + w4x4 + b</a:t>
            </a:r>
          </a:p>
          <a:p>
            <a:pPr algn="just">
              <a:lnSpc>
                <a:spcPts val="3628"/>
              </a:lnSpc>
            </a:pPr>
          </a:p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Where: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y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Predicted delay (minutes)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x1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Weather severity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x2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Air traffic congestion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x3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Aircraft turnaround time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x4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Crew issue (Yes/No)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Base delay</a:t>
            </a:r>
          </a:p>
          <a:p>
            <a:pPr algn="just" marL="559503" indent="-279751" lvl="1">
              <a:lnSpc>
                <a:spcPts val="3628"/>
              </a:lnSpc>
              <a:buFont typeface="Arial"/>
              <a:buChar char="•"/>
            </a:pPr>
            <a:r>
              <a:rPr lang="en-US" b="true" sz="259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w1, w2, w3, w4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= Weights </a:t>
            </a:r>
          </a:p>
          <a:p>
            <a:pPr algn="just">
              <a:lnSpc>
                <a:spcPts val="3628"/>
              </a:lnSpc>
            </a:pPr>
          </a:p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y=(15×9)+(10×5)+(−5×30)+(8×1)+5</a:t>
            </a:r>
          </a:p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y = 135 + 50 - 150 + 8 + 5</a:t>
            </a:r>
          </a:p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y=48 minutes</a:t>
            </a:r>
          </a:p>
          <a:p>
            <a:pPr algn="just">
              <a:lnSpc>
                <a:spcPts val="3628"/>
              </a:lnSpc>
            </a:pP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So, the predicted delay for this flight is </a:t>
            </a:r>
            <a:r>
              <a:rPr lang="en-US" sz="2591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48 minutes</a:t>
            </a:r>
            <a:r>
              <a:rPr lang="en-US" sz="2591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just">
              <a:lnSpc>
                <a:spcPts val="3628"/>
              </a:lnSpc>
            </a:pPr>
          </a:p>
          <a:p>
            <a:pPr algn="just">
              <a:lnSpc>
                <a:spcPts val="3628"/>
              </a:lnSpc>
            </a:pPr>
          </a:p>
          <a:p>
            <a:pPr algn="just">
              <a:lnSpc>
                <a:spcPts val="3628"/>
              </a:lnSpc>
            </a:pPr>
          </a:p>
          <a:p>
            <a:pPr algn="just">
              <a:lnSpc>
                <a:spcPts val="362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12525" y="2335474"/>
            <a:ext cx="9799566" cy="5616051"/>
          </a:xfrm>
          <a:custGeom>
            <a:avLst/>
            <a:gdLst/>
            <a:ahLst/>
            <a:cxnLst/>
            <a:rect r="r" b="b" t="t" l="l"/>
            <a:pathLst>
              <a:path h="5616051" w="9799566">
                <a:moveTo>
                  <a:pt x="0" y="0"/>
                </a:moveTo>
                <a:lnTo>
                  <a:pt x="9799566" y="0"/>
                </a:lnTo>
                <a:lnTo>
                  <a:pt x="9799566" y="5616052"/>
                </a:lnTo>
                <a:lnTo>
                  <a:pt x="0" y="561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17051" y="9525"/>
            <a:ext cx="1549073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Logistic Regression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5516" y="1498200"/>
            <a:ext cx="15586749" cy="898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1️. Importing Required Libraries</a:t>
            </a: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numpy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Handles numerical computations.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matplotlib.pyplot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Used for plotting graphs.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pandas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Used for loading and handling the dataset.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SimpleImputer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Handles missing data by filling empty values.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ColumnTransformer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&amp; </a:t>
            </a: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OneHotEncoder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Convert categorical variables into numeric form.</a:t>
            </a:r>
          </a:p>
          <a:p>
            <a:pPr algn="just">
              <a:lnSpc>
                <a:spcPts val="3391"/>
              </a:lnSpc>
            </a:pPr>
          </a:p>
          <a:p>
            <a:pPr algn="l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LabelEncoder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Converts categorical dependent variables (Yes/No) into binary form (1/0).</a:t>
            </a:r>
          </a:p>
          <a:p>
            <a:pPr algn="l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StandardScaler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Standardizes numeric data for better model performance.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train_test_split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Splits the dataset into training and test sets.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LogisticRegression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Implements logistic regression for classification.</a:t>
            </a:r>
          </a:p>
          <a:p>
            <a:pPr algn="just">
              <a:lnSpc>
                <a:spcPts val="3391"/>
              </a:lnSpc>
            </a:pPr>
          </a:p>
          <a:p>
            <a:pPr algn="just" marL="523066" indent="-261533" lvl="1">
              <a:lnSpc>
                <a:spcPts val="3391"/>
              </a:lnSpc>
              <a:buFont typeface="Arial"/>
              <a:buChar char="•"/>
            </a:pPr>
            <a:r>
              <a:rPr lang="en-US" b="true" sz="2422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accuracy_score, confusion_matrix, classification_report</a:t>
            </a: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 Used for model evaluation.</a:t>
            </a:r>
          </a:p>
          <a:p>
            <a:pPr algn="just">
              <a:lnSpc>
                <a:spcPts val="339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83399" y="123825"/>
            <a:ext cx="1549073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Logistic Regression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0078" y="1247185"/>
            <a:ext cx="15586749" cy="111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2️. Loading the Dataset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3️. Handling Missing Data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4️. Encoding Categorical Data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5️. Splitting the Dataset into Training and Test Sets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6️. Feature Scaling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7️. Training the Logistic Regression Model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8️. Making Predictions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9️. Comparing Actual vs Predicted Values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10</a:t>
            </a: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. Evaluating Model Performance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11.</a:t>
            </a: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Visualizing Actual vs Predicted Values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81352"/>
            <a:ext cx="16230600" cy="890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8"/>
              </a:lnSpc>
            </a:pPr>
            <a:r>
              <a:rPr lang="en-US" sz="360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Bias:</a:t>
            </a:r>
          </a:p>
          <a:p>
            <a:pPr algn="just" marL="778500" indent="-389250" lvl="1">
              <a:lnSpc>
                <a:spcPts val="5048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Difference between predicted values and actual values.</a:t>
            </a:r>
          </a:p>
          <a:p>
            <a:pPr algn="just" marL="778500" indent="-389250" lvl="1">
              <a:lnSpc>
                <a:spcPts val="5048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High bias means the model makes </a:t>
            </a:r>
            <a:r>
              <a:rPr lang="en-US" b="true" sz="3605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simplistic assumptions</a:t>
            </a: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and has </a:t>
            </a:r>
            <a:r>
              <a:rPr lang="en-US" b="true" sz="3605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low accuracy</a:t>
            </a: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  <a:r>
              <a:rPr lang="en-US" sz="360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Variance:</a:t>
            </a:r>
          </a:p>
          <a:p>
            <a:pPr algn="just" marL="778500" indent="-389250" lvl="1">
              <a:lnSpc>
                <a:spcPts val="5048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Measures how much predictions change with different datasets.</a:t>
            </a:r>
          </a:p>
          <a:p>
            <a:pPr algn="just" marL="778500" indent="-389250" lvl="1">
              <a:lnSpc>
                <a:spcPts val="5048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High variance means the model is </a:t>
            </a:r>
            <a:r>
              <a:rPr lang="en-US" b="true" sz="3605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too sensitive</a:t>
            </a: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to small changes and captures </a:t>
            </a:r>
            <a:r>
              <a:rPr lang="en-US" b="true" sz="3605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noise</a:t>
            </a: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instead of patterns.</a:t>
            </a: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7963" y="485844"/>
            <a:ext cx="16230600" cy="1018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8"/>
              </a:lnSpc>
            </a:pPr>
            <a:r>
              <a:rPr lang="en-US" sz="360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Goal: Find the right balance to ensure good performance on new data.</a:t>
            </a: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  <a:r>
              <a:rPr lang="en-US" sz="360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Underfitting (High Bias): </a:t>
            </a: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Model is too simple.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High training error and low accuracy on both training and test data.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Training error ≈ Testing error (both high).</a:t>
            </a: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  <a:r>
              <a:rPr lang="en-US" sz="360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Optimal Model (Balanced):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Training error is slightly lower than test error.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Learns meaningful patterns and performs well on new data.</a:t>
            </a: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  <a:r>
              <a:rPr lang="en-US" sz="360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Overfitting (High Variance):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Model is too complex and memorizes training data.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Low training error but high test error.</a:t>
            </a:r>
          </a:p>
          <a:p>
            <a:pPr algn="just">
              <a:lnSpc>
                <a:spcPts val="5048"/>
              </a:lnSpc>
            </a:pPr>
            <a:r>
              <a:rPr lang="en-US" sz="360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Performs well on training data but poorly on unseen data.</a:t>
            </a:r>
          </a:p>
          <a:p>
            <a:pPr algn="just">
              <a:lnSpc>
                <a:spcPts val="5048"/>
              </a:lnSpc>
            </a:pPr>
          </a:p>
          <a:p>
            <a:pPr algn="just">
              <a:lnSpc>
                <a:spcPts val="5048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3318" y="2363073"/>
            <a:ext cx="7976006" cy="5078903"/>
          </a:xfrm>
          <a:custGeom>
            <a:avLst/>
            <a:gdLst/>
            <a:ahLst/>
            <a:cxnLst/>
            <a:rect r="r" b="b" t="t" l="l"/>
            <a:pathLst>
              <a:path h="5078903" w="7976006">
                <a:moveTo>
                  <a:pt x="0" y="0"/>
                </a:moveTo>
                <a:lnTo>
                  <a:pt x="7976006" y="0"/>
                </a:lnTo>
                <a:lnTo>
                  <a:pt x="7976006" y="5078903"/>
                </a:lnTo>
                <a:lnTo>
                  <a:pt x="0" y="5078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5" r="0" b="-38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9297" y="2363073"/>
            <a:ext cx="8694703" cy="5078903"/>
          </a:xfrm>
          <a:custGeom>
            <a:avLst/>
            <a:gdLst/>
            <a:ahLst/>
            <a:cxnLst/>
            <a:rect r="r" b="b" t="t" l="l"/>
            <a:pathLst>
              <a:path h="5078903" w="8694703">
                <a:moveTo>
                  <a:pt x="0" y="0"/>
                </a:moveTo>
                <a:lnTo>
                  <a:pt x="8694703" y="0"/>
                </a:lnTo>
                <a:lnTo>
                  <a:pt x="8694703" y="5078903"/>
                </a:lnTo>
                <a:lnTo>
                  <a:pt x="0" y="5078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6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50553" y="818384"/>
            <a:ext cx="60921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Underfitting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40942" y="818384"/>
            <a:ext cx="541782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Overfitting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0673" y="3160906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7" y="0"/>
                </a:lnTo>
                <a:lnTo>
                  <a:pt x="13511077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41557" y="879947"/>
            <a:ext cx="13804886" cy="200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5"/>
              </a:lnSpc>
            </a:pPr>
            <a:r>
              <a:rPr lang="en-US" sz="7500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 What is Vectorization?</a:t>
            </a:r>
          </a:p>
          <a:p>
            <a:pPr algn="ctr" marL="0" indent="0" lvl="0">
              <a:lnSpc>
                <a:spcPts val="778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6123" y="3383569"/>
            <a:ext cx="17155753" cy="439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3"/>
              </a:lnSpc>
            </a:pP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Vectorization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is the process of replacing loops with optimized array operations to make computations faster. Instead of processing one element at a time, we perform operations on entire arrays at once using libraries like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NumPy (Python) and TensorFlow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92842" y="554906"/>
            <a:ext cx="11902316" cy="1840659"/>
            <a:chOff x="0" y="0"/>
            <a:chExt cx="3134766" cy="484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4766" cy="484783"/>
            </a:xfrm>
            <a:custGeom>
              <a:avLst/>
              <a:gdLst/>
              <a:ahLst/>
              <a:cxnLst/>
              <a:rect r="r" b="b" t="t" l="l"/>
              <a:pathLst>
                <a:path h="484783" w="3134766">
                  <a:moveTo>
                    <a:pt x="33173" y="0"/>
                  </a:moveTo>
                  <a:lnTo>
                    <a:pt x="3101593" y="0"/>
                  </a:lnTo>
                  <a:cubicBezTo>
                    <a:pt x="3119914" y="0"/>
                    <a:pt x="3134766" y="14852"/>
                    <a:pt x="3134766" y="33173"/>
                  </a:cubicBezTo>
                  <a:lnTo>
                    <a:pt x="3134766" y="451609"/>
                  </a:lnTo>
                  <a:cubicBezTo>
                    <a:pt x="3134766" y="469930"/>
                    <a:pt x="3119914" y="484783"/>
                    <a:pt x="3101593" y="484783"/>
                  </a:cubicBezTo>
                  <a:lnTo>
                    <a:pt x="33173" y="484783"/>
                  </a:lnTo>
                  <a:cubicBezTo>
                    <a:pt x="14852" y="484783"/>
                    <a:pt x="0" y="469930"/>
                    <a:pt x="0" y="451609"/>
                  </a:cubicBezTo>
                  <a:lnTo>
                    <a:pt x="0" y="33173"/>
                  </a:lnTo>
                  <a:cubicBezTo>
                    <a:pt x="0" y="14852"/>
                    <a:pt x="14852" y="0"/>
                    <a:pt x="331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34766" cy="522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0673" y="3160906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7" y="0"/>
                </a:lnTo>
                <a:lnTo>
                  <a:pt x="13511077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41557" y="639121"/>
            <a:ext cx="13804886" cy="200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5"/>
              </a:lnSpc>
            </a:pPr>
            <a:r>
              <a:rPr lang="en-US" sz="7500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 What is a NumPy Array?</a:t>
            </a:r>
          </a:p>
          <a:p>
            <a:pPr algn="ctr" marL="0" indent="0" lvl="0">
              <a:lnSpc>
                <a:spcPts val="778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6123" y="3383569"/>
            <a:ext cx="17155753" cy="52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3"/>
              </a:lnSpc>
            </a:pP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NumPy array (ndarray)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is an optimized data structure that stores numbers efficiently and allows us to perform fast operations. It is much faster than a Python list because it uses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contiguous memory allocation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</a:t>
            </a:r>
            <a:r>
              <a:rPr lang="en-US" sz="4987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vectorized operations</a:t>
            </a:r>
            <a:r>
              <a:rPr lang="en-US" sz="498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ctr">
              <a:lnSpc>
                <a:spcPts val="698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192842" y="222753"/>
            <a:ext cx="11902316" cy="1611893"/>
            <a:chOff x="0" y="0"/>
            <a:chExt cx="3134766" cy="4245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4766" cy="424532"/>
            </a:xfrm>
            <a:custGeom>
              <a:avLst/>
              <a:gdLst/>
              <a:ahLst/>
              <a:cxnLst/>
              <a:rect r="r" b="b" t="t" l="l"/>
              <a:pathLst>
                <a:path h="424532" w="3134766">
                  <a:moveTo>
                    <a:pt x="33173" y="0"/>
                  </a:moveTo>
                  <a:lnTo>
                    <a:pt x="3101593" y="0"/>
                  </a:lnTo>
                  <a:cubicBezTo>
                    <a:pt x="3119914" y="0"/>
                    <a:pt x="3134766" y="14852"/>
                    <a:pt x="3134766" y="33173"/>
                  </a:cubicBezTo>
                  <a:lnTo>
                    <a:pt x="3134766" y="391358"/>
                  </a:lnTo>
                  <a:cubicBezTo>
                    <a:pt x="3134766" y="409679"/>
                    <a:pt x="3119914" y="424532"/>
                    <a:pt x="3101593" y="424532"/>
                  </a:cubicBezTo>
                  <a:lnTo>
                    <a:pt x="33173" y="424532"/>
                  </a:lnTo>
                  <a:cubicBezTo>
                    <a:pt x="14852" y="424532"/>
                    <a:pt x="0" y="409679"/>
                    <a:pt x="0" y="391358"/>
                  </a:cubicBezTo>
                  <a:lnTo>
                    <a:pt x="0" y="33173"/>
                  </a:lnTo>
                  <a:cubicBezTo>
                    <a:pt x="0" y="14852"/>
                    <a:pt x="14852" y="0"/>
                    <a:pt x="331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34766" cy="46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516" y="1498200"/>
            <a:ext cx="15586749" cy="111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1.Creating a 1D Array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 Shape (5,) → This means a 1D array with 5 elements.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🔹Dimension 1 → It's a single-dimensional array.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2. Creating a 2×3 Matrix (2 rows, 3 columns)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 Shape (2, 3) → 2 rows, 3 columns.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🔹Dimension 2 → It’s a 2D matrix.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3. Creating a 4×5 Matrix (4 rows, 5 columns)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 Shape (4,5) → 4 rows, 5 columns.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 Dimension 2 → It’s a 2D matrix.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4.Creating a 3D Array (2 Matrices of 2×3)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 Shape (2, 2, 3) → 2 matrices, each of size 2×3.</a:t>
            </a:r>
          </a:p>
          <a:p>
            <a:pPr algn="just">
              <a:lnSpc>
                <a:spcPts val="3391"/>
              </a:lnSpc>
            </a:pPr>
            <a:r>
              <a:rPr lang="en-US" sz="2422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🔹 Dimension 3 → It's a 3D tensor.</a:t>
            </a: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  <a:p>
            <a:pPr algn="just">
              <a:lnSpc>
                <a:spcPts val="3391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516" y="1498200"/>
            <a:ext cx="6880863" cy="1241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2"/>
              </a:lnSpc>
            </a:pPr>
            <a:r>
              <a:rPr lang="en-US" sz="242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5.Broadcasting a Scalar to a Matrix</a:t>
            </a: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  <a:r>
              <a:rPr lang="en-US" sz="242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6. Broadcasting a 1D Array to a 2D Matrix</a:t>
            </a: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  <a:p>
            <a:pPr algn="just">
              <a:lnSpc>
                <a:spcPts val="339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85516" y="2386738"/>
            <a:ext cx="11301259" cy="2613416"/>
          </a:xfrm>
          <a:custGeom>
            <a:avLst/>
            <a:gdLst/>
            <a:ahLst/>
            <a:cxnLst/>
            <a:rect r="r" b="b" t="t" l="l"/>
            <a:pathLst>
              <a:path h="2613416" w="11301259">
                <a:moveTo>
                  <a:pt x="0" y="0"/>
                </a:moveTo>
                <a:lnTo>
                  <a:pt x="11301259" y="0"/>
                </a:lnTo>
                <a:lnTo>
                  <a:pt x="11301259" y="2613417"/>
                </a:lnTo>
                <a:lnTo>
                  <a:pt x="0" y="2613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5516" y="6728491"/>
            <a:ext cx="11301259" cy="2738125"/>
          </a:xfrm>
          <a:custGeom>
            <a:avLst/>
            <a:gdLst/>
            <a:ahLst/>
            <a:cxnLst/>
            <a:rect r="r" b="b" t="t" l="l"/>
            <a:pathLst>
              <a:path h="2738125" w="11301259">
                <a:moveTo>
                  <a:pt x="0" y="0"/>
                </a:moveTo>
                <a:lnTo>
                  <a:pt x="11301259" y="0"/>
                </a:lnTo>
                <a:lnTo>
                  <a:pt x="11301259" y="2738125"/>
                </a:lnTo>
                <a:lnTo>
                  <a:pt x="0" y="2738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2134" y="512967"/>
            <a:ext cx="1372373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 are Neural Networks ?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4109" y="2747033"/>
            <a:ext cx="15719781" cy="705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5"/>
              </a:lnSpc>
            </a:pPr>
            <a:r>
              <a:rPr lang="en-US" sz="498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Neural networks are </a:t>
            </a:r>
            <a:r>
              <a:rPr lang="en-US" sz="498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models that learn from data</a:t>
            </a:r>
            <a:r>
              <a:rPr lang="en-US" sz="498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using layers of connected units called neurons. They process information step by step to make predictions.</a:t>
            </a:r>
          </a:p>
          <a:p>
            <a:pPr algn="just">
              <a:lnSpc>
                <a:spcPts val="6985"/>
              </a:lnSpc>
            </a:pPr>
          </a:p>
          <a:p>
            <a:pPr algn="just">
              <a:lnSpc>
                <a:spcPts val="6985"/>
              </a:lnSpc>
            </a:pPr>
          </a:p>
          <a:p>
            <a:pPr algn="just">
              <a:lnSpc>
                <a:spcPts val="6985"/>
              </a:lnSpc>
            </a:pPr>
          </a:p>
          <a:p>
            <a:pPr algn="just">
              <a:lnSpc>
                <a:spcPts val="698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090709" y="922542"/>
            <a:ext cx="1412448" cy="34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Home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5534" y="513759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5842" y="421091"/>
            <a:ext cx="1268963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Types of Neural Networks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842" y="2082648"/>
            <a:ext cx="13573771" cy="575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3"/>
              </a:lnSpc>
            </a:pPr>
          </a:p>
          <a:p>
            <a:pPr algn="just" marL="538766" indent="-269383" lvl="1">
              <a:lnSpc>
                <a:spcPts val="3493"/>
              </a:lnSpc>
              <a:buFont typeface="Arial"/>
              <a:buChar char="•"/>
            </a:pP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Convolutional Neural Networks (CNNs):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Used for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image recognition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computer vision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tasks.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Detect patterns like shapes and textures in images.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Common in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facial recognition, object detection, and medical imaging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just">
              <a:lnSpc>
                <a:spcPts val="3493"/>
              </a:lnSpc>
            </a:pPr>
          </a:p>
          <a:p>
            <a:pPr algn="just">
              <a:lnSpc>
                <a:spcPts val="3493"/>
              </a:lnSpc>
            </a:pPr>
          </a:p>
          <a:p>
            <a:pPr algn="just">
              <a:lnSpc>
                <a:spcPts val="3493"/>
              </a:lnSpc>
            </a:pPr>
          </a:p>
          <a:p>
            <a:pPr algn="just" marL="538766" indent="-269383" lvl="1">
              <a:lnSpc>
                <a:spcPts val="3493"/>
              </a:lnSpc>
              <a:buFont typeface="Arial"/>
              <a:buChar char="•"/>
            </a:pP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Recurrent Neural Networks (RNNs):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Used for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time-based or sequential data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like text and speech.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Remember past inputs to understand sequences.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Used in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chatbots, language translation, and speech recognition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just">
              <a:lnSpc>
                <a:spcPts val="349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090709" y="922542"/>
            <a:ext cx="1412448" cy="34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Home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37385" y="2035412"/>
            <a:ext cx="14413231" cy="5477028"/>
          </a:xfrm>
          <a:custGeom>
            <a:avLst/>
            <a:gdLst/>
            <a:ahLst/>
            <a:cxnLst/>
            <a:rect r="r" b="b" t="t" l="l"/>
            <a:pathLst>
              <a:path h="5477028" w="14413231">
                <a:moveTo>
                  <a:pt x="0" y="0"/>
                </a:moveTo>
                <a:lnTo>
                  <a:pt x="14413230" y="0"/>
                </a:lnTo>
                <a:lnTo>
                  <a:pt x="14413230" y="5477028"/>
                </a:lnTo>
                <a:lnTo>
                  <a:pt x="0" y="5477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90709" y="922542"/>
            <a:ext cx="1412448" cy="34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Home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5534" y="513759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5842" y="421091"/>
            <a:ext cx="1268963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Handling Non-Linearity </a:t>
            </a:r>
          </a:p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75842" y="2082648"/>
            <a:ext cx="13573771" cy="708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3"/>
              </a:lnSpc>
            </a:pPr>
            <a:r>
              <a:rPr lang="en-US" sz="249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Neural networks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handle this by using layers and </a:t>
            </a:r>
            <a:r>
              <a:rPr lang="en-US" sz="249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activation functions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to learn complex patterns.</a:t>
            </a:r>
          </a:p>
          <a:p>
            <a:pPr algn="just">
              <a:lnSpc>
                <a:spcPts val="3493"/>
              </a:lnSpc>
            </a:pPr>
          </a:p>
          <a:p>
            <a:pPr algn="just">
              <a:lnSpc>
                <a:spcPts val="3493"/>
              </a:lnSpc>
            </a:pPr>
            <a:r>
              <a:rPr lang="en-US" sz="249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How Neural Networks Introduce Non-Linearity:</a:t>
            </a:r>
          </a:p>
          <a:p>
            <a:pPr algn="just" marL="538766" indent="-269383" lvl="1">
              <a:lnSpc>
                <a:spcPts val="3493"/>
              </a:lnSpc>
              <a:buFont typeface="Arial"/>
              <a:buChar char="•"/>
            </a:pP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Multiple Layers: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Process data in steps, learning from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simple to complex features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(e.g., edges, curves).</a:t>
            </a:r>
          </a:p>
          <a:p>
            <a:pPr algn="just">
              <a:lnSpc>
                <a:spcPts val="3493"/>
              </a:lnSpc>
            </a:pPr>
          </a:p>
          <a:p>
            <a:pPr algn="just" marL="538766" indent="-269383" lvl="1">
              <a:lnSpc>
                <a:spcPts val="3493"/>
              </a:lnSpc>
              <a:buFont typeface="Arial"/>
              <a:buChar char="•"/>
            </a:pP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Activation Functions: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Add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non-linearity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allowing the model to learn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curves and patterns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instead of just straight lines.</a:t>
            </a:r>
          </a:p>
          <a:p>
            <a:pPr algn="just" marL="1077531" indent="-359177" lvl="2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Examples: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ReLU, Sigmoid, Tanh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help neurons react differently to inputs.</a:t>
            </a:r>
          </a:p>
          <a:p>
            <a:pPr algn="just">
              <a:lnSpc>
                <a:spcPts val="3493"/>
              </a:lnSpc>
            </a:pPr>
          </a:p>
          <a:p>
            <a:pPr algn="just" marL="538766" indent="-269383" lvl="1">
              <a:lnSpc>
                <a:spcPts val="3493"/>
              </a:lnSpc>
              <a:buFont typeface="Arial"/>
              <a:buChar char="•"/>
            </a:pP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Pattern Detection: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Instead of separating data with a straight line, neural networks </a:t>
            </a:r>
            <a:r>
              <a:rPr lang="en-US" b="true" sz="24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learn shapes, clusters, and deep relationships</a:t>
            </a:r>
            <a:r>
              <a:rPr lang="en-US" sz="24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just">
              <a:lnSpc>
                <a:spcPts val="3493"/>
              </a:lnSpc>
            </a:pPr>
          </a:p>
          <a:p>
            <a:pPr algn="just">
              <a:lnSpc>
                <a:spcPts val="3493"/>
              </a:lnSpc>
            </a:pPr>
          </a:p>
          <a:p>
            <a:pPr algn="just">
              <a:lnSpc>
                <a:spcPts val="349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090709" y="922542"/>
            <a:ext cx="1412448" cy="34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Home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85534" y="513759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25035" y="421091"/>
            <a:ext cx="12129491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Why are Neural Networks better ?</a:t>
            </a:r>
          </a:p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77340"/>
            <a:ext cx="15851881" cy="639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5"/>
              </a:lnSpc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Feature Learning (Automatic Extraction)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No need for manual feature selection—neural networks learn patterns from raw data.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In images, early layers detect edges, deeper layers recognize objects.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In text, networks learn word meanings through embeddings.</a:t>
            </a:r>
          </a:p>
          <a:p>
            <a:pPr algn="just">
              <a:lnSpc>
                <a:spcPts val="3365"/>
              </a:lnSpc>
            </a:pPr>
          </a:p>
          <a:p>
            <a:pPr algn="just">
              <a:lnSpc>
                <a:spcPts val="3365"/>
              </a:lnSpc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Efficient Computation &amp; Optimization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Use GPUs/TPUs to process large data quickly.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Optimization algorithms (SGD, Adam, RMSprop) improve training speed.</a:t>
            </a:r>
          </a:p>
          <a:p>
            <a:pPr algn="just">
              <a:lnSpc>
                <a:spcPts val="3365"/>
              </a:lnSpc>
            </a:pPr>
          </a:p>
          <a:p>
            <a:pPr algn="just">
              <a:lnSpc>
                <a:spcPts val="3365"/>
              </a:lnSpc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Handles Unstructured Data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Works with images, text, audio, and video—unlike traditional models that need structured data.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CNNs for images (Face ID, self-driving cars).</a:t>
            </a:r>
          </a:p>
          <a:p>
            <a:pPr algn="just" marL="519028" indent="-259514" lvl="1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RNNs, LSTMs, Transformers for text &amp; speech (ChatGPT, Siri, Google Translate).</a:t>
            </a:r>
          </a:p>
          <a:p>
            <a:pPr algn="just">
              <a:lnSpc>
                <a:spcPts val="3365"/>
              </a:lnSpc>
            </a:pPr>
          </a:p>
          <a:p>
            <a:pPr algn="just">
              <a:lnSpc>
                <a:spcPts val="336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090709" y="922542"/>
            <a:ext cx="1412448" cy="34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Home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21739" y="4422512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37561" y="-56367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3757931" y="526734"/>
            <a:ext cx="11027785" cy="1247430"/>
            <a:chOff x="0" y="0"/>
            <a:chExt cx="2904437" cy="3285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4437" cy="328541"/>
            </a:xfrm>
            <a:custGeom>
              <a:avLst/>
              <a:gdLst/>
              <a:ahLst/>
              <a:cxnLst/>
              <a:rect r="r" b="b" t="t" l="l"/>
              <a:pathLst>
                <a:path h="328541" w="2904437">
                  <a:moveTo>
                    <a:pt x="35804" y="0"/>
                  </a:moveTo>
                  <a:lnTo>
                    <a:pt x="2868633" y="0"/>
                  </a:lnTo>
                  <a:cubicBezTo>
                    <a:pt x="2878129" y="0"/>
                    <a:pt x="2887236" y="3772"/>
                    <a:pt x="2893950" y="10487"/>
                  </a:cubicBezTo>
                  <a:cubicBezTo>
                    <a:pt x="2900665" y="17201"/>
                    <a:pt x="2904437" y="26308"/>
                    <a:pt x="2904437" y="35804"/>
                  </a:cubicBezTo>
                  <a:lnTo>
                    <a:pt x="2904437" y="292737"/>
                  </a:lnTo>
                  <a:cubicBezTo>
                    <a:pt x="2904437" y="312511"/>
                    <a:pt x="2888407" y="328541"/>
                    <a:pt x="2868633" y="328541"/>
                  </a:cubicBezTo>
                  <a:lnTo>
                    <a:pt x="35804" y="328541"/>
                  </a:lnTo>
                  <a:cubicBezTo>
                    <a:pt x="26308" y="328541"/>
                    <a:pt x="17201" y="324769"/>
                    <a:pt x="10487" y="318055"/>
                  </a:cubicBezTo>
                  <a:cubicBezTo>
                    <a:pt x="3772" y="311340"/>
                    <a:pt x="0" y="302233"/>
                    <a:pt x="0" y="292737"/>
                  </a:cubicBezTo>
                  <a:lnTo>
                    <a:pt x="0" y="35804"/>
                  </a:lnTo>
                  <a:cubicBezTo>
                    <a:pt x="0" y="16030"/>
                    <a:pt x="16030" y="0"/>
                    <a:pt x="358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04437" cy="36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046866" y="4163903"/>
            <a:ext cx="6682528" cy="5094397"/>
          </a:xfrm>
          <a:custGeom>
            <a:avLst/>
            <a:gdLst/>
            <a:ahLst/>
            <a:cxnLst/>
            <a:rect r="r" b="b" t="t" l="l"/>
            <a:pathLst>
              <a:path h="5094397" w="6682528">
                <a:moveTo>
                  <a:pt x="0" y="0"/>
                </a:moveTo>
                <a:lnTo>
                  <a:pt x="6682528" y="0"/>
                </a:lnTo>
                <a:lnTo>
                  <a:pt x="6682528" y="5094397"/>
                </a:lnTo>
                <a:lnTo>
                  <a:pt x="0" y="5094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6714" y="650559"/>
            <a:ext cx="13670219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5"/>
              </a:lnSpc>
            </a:pPr>
            <a:r>
              <a:rPr lang="en-US" sz="7500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 is a Perceptron ?</a:t>
            </a:r>
          </a:p>
          <a:p>
            <a:pPr algn="ctr" marL="0" indent="0" lvl="0">
              <a:lnSpc>
                <a:spcPts val="772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24335"/>
            <a:ext cx="8540719" cy="174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6"/>
              </a:lnSpc>
            </a:pP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 Perceptron is the simplest type of artificial neuron, acting as a binary classifier. It takes multiple inputs, applies weights, sums them, applies an activation function, and produces an output (0 or 1)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21739" y="4422512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37561" y="-56367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03281" y="242758"/>
            <a:ext cx="16656019" cy="790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6"/>
              </a:lnSpc>
            </a:pPr>
            <a:r>
              <a:rPr lang="en-US" sz="248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1: Why Do We Need a Perceptron?</a:t>
            </a:r>
          </a:p>
          <a:p>
            <a:pPr algn="just">
              <a:lnSpc>
                <a:spcPts val="3476"/>
              </a:lnSpc>
            </a:pP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Before deep learning, simple models struggled with certain classification tasks. The perceptron was the </a:t>
            </a:r>
            <a:r>
              <a:rPr lang="en-US" sz="248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first step toward neural networks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laid the foundation for more advanced models.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Solves Simple Classification Problems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Example: Detecting spam vs. non-spam emails.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Inspired by Biological Neurons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Mimics how human neurons process information.</a:t>
            </a:r>
          </a:p>
          <a:p>
            <a:pPr algn="just" marL="579296" indent="-289648" lvl="1">
              <a:lnSpc>
                <a:spcPts val="3756"/>
              </a:lnSpc>
              <a:buFont typeface="Arial"/>
              <a:buChar char="•"/>
            </a:pPr>
            <a:r>
              <a:rPr lang="en-US" b="true" sz="26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Foundation of Neural Networks</a:t>
            </a:r>
            <a:r>
              <a:rPr lang="en-US" sz="26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Forms the basis for complex models like CNNs &amp; RNNs.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  <a:r>
              <a:rPr lang="en-US" sz="248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2: Components of a Perceptron</a:t>
            </a:r>
          </a:p>
          <a:p>
            <a:pPr algn="just">
              <a:lnSpc>
                <a:spcPts val="3476"/>
              </a:lnSpc>
            </a:pP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 perceptron consists of the following: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Inputs (X₁, X₂, ..., Xₙ)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Features such as pixel brightness in an image or words in text.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Weights (W₁, W₂, ..., Wₙ)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Assigned to each input to determine its influence.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Bias (b)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Shifts the decision boundary to improve learning flexibility.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Summation Function (Σ)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Computes the weighted sum: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Z=(W1⋅X1)+(W2⋅X2)+...+(Wn⋅Xn)+b</a:t>
            </a:r>
          </a:p>
          <a:p>
            <a:pPr algn="just" marL="536117" indent="-268059" lvl="1">
              <a:lnSpc>
                <a:spcPts val="3476"/>
              </a:lnSpc>
              <a:buFont typeface="Arial"/>
              <a:buChar char="•"/>
            </a:pPr>
            <a:r>
              <a:rPr lang="en-US" b="true" sz="2483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Activation Function (f(Z))</a:t>
            </a:r>
            <a:r>
              <a:rPr lang="en-US" sz="248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Decides if the neuron activates (outputs 1 or 0).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21739" y="4422512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37561" y="-56367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03281" y="242758"/>
            <a:ext cx="16656019" cy="787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3: Choosing an Activation Function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activation function introduces </a:t>
            </a: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non-linearity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allowing perceptrons to handle more complex problems.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Function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Outputs 1 if input ≥ threshold, else 0.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Works well for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binary classification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but fails for complex data.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Sigmoid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Outputs a value between 0 and 1.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Useful when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probabilities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are needed but suffers from slow learning.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ReLU (Rectified Linear Unit)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Outputs 0 for negatives, Z for positives.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Faster training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helps avoid vanishing gradients in deep networks.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4: Weight Initialization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Weight initialization is </a:t>
            </a: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crucial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for learning. If done incorrectly, the perceptron may </a:t>
            </a: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learn too slowly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or get stuck in poor solutions.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Random Initialization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Weights are set to small random values.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Too Small Weights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Learning is slow because updates are tiny.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Too Large Weights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Can cause unstable learning and poor convergence.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Best Approach?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Use techniques like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Xavier (Glorot) Initialization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or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He Initialization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for deep networks.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21739" y="4422512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37561" y="-56367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76019" y="3752850"/>
            <a:ext cx="15335963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Step 5: Building the Perceptron</a:t>
            </a:r>
          </a:p>
          <a:p>
            <a:pPr algn="ctr">
              <a:lnSpc>
                <a:spcPts val="10500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21739" y="4422512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37561" y="-56367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88681" y="463287"/>
            <a:ext cx="15335963" cy="830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6: Why Can’t a Perceptron Solve XOR?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 </a:t>
            </a: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single-layer perceptron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can only solve problems where the data is </a:t>
            </a: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linearly separable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(i.e., a straight line can separate the classes).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AND &amp; OR are linearly separable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A perceptron can classify them.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XOR is NOT linearly separable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A single perceptron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fails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because it can only learn straight-line decision boundaries.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Solution?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Use a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Multi-Layer Perceptron (MLP)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with hidden layers and non-linear activation functions.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Step 7: Improving the Perceptron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To solve complex problems like XOR, we need enhancements: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Multi-Layer Perceptrons (MLP)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Adding </a:t>
            </a: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hidden layers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enables learning of complex patterns.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Gradient Descent &amp; Backpropagation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Algorithms that adjust weights to improve accuracy.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Better Activation Functions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Sigmoid, Tanh, and ReLU allow deeper networks to learn effectively.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Regularization (Dropout, L2)</a:t>
            </a:r>
            <a:r>
              <a:rPr lang="en-US" sz="24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→ Prevents overfitting by ensuring the model generalizes well to new data.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2129" y="330506"/>
            <a:ext cx="17503742" cy="9625987"/>
            <a:chOff x="0" y="0"/>
            <a:chExt cx="4610039" cy="2535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10039" cy="2535239"/>
            </a:xfrm>
            <a:custGeom>
              <a:avLst/>
              <a:gdLst/>
              <a:ahLst/>
              <a:cxnLst/>
              <a:rect r="r" b="b" t="t" l="l"/>
              <a:pathLst>
                <a:path h="2535239" w="4610039">
                  <a:moveTo>
                    <a:pt x="22557" y="0"/>
                  </a:moveTo>
                  <a:lnTo>
                    <a:pt x="4587482" y="0"/>
                  </a:lnTo>
                  <a:cubicBezTo>
                    <a:pt x="4593465" y="0"/>
                    <a:pt x="4599202" y="2377"/>
                    <a:pt x="4603432" y="6607"/>
                  </a:cubicBezTo>
                  <a:cubicBezTo>
                    <a:pt x="4607663" y="10837"/>
                    <a:pt x="4610039" y="16575"/>
                    <a:pt x="4610039" y="22557"/>
                  </a:cubicBezTo>
                  <a:lnTo>
                    <a:pt x="4610039" y="2512682"/>
                  </a:lnTo>
                  <a:cubicBezTo>
                    <a:pt x="4610039" y="2518665"/>
                    <a:pt x="4607663" y="2524402"/>
                    <a:pt x="4603432" y="2528632"/>
                  </a:cubicBezTo>
                  <a:cubicBezTo>
                    <a:pt x="4599202" y="2532863"/>
                    <a:pt x="4593465" y="2535239"/>
                    <a:pt x="4587482" y="2535239"/>
                  </a:cubicBezTo>
                  <a:lnTo>
                    <a:pt x="22557" y="2535239"/>
                  </a:lnTo>
                  <a:cubicBezTo>
                    <a:pt x="16575" y="2535239"/>
                    <a:pt x="10837" y="2532863"/>
                    <a:pt x="6607" y="2528632"/>
                  </a:cubicBezTo>
                  <a:cubicBezTo>
                    <a:pt x="2377" y="2524402"/>
                    <a:pt x="0" y="2518665"/>
                    <a:pt x="0" y="2512682"/>
                  </a:cubicBezTo>
                  <a:lnTo>
                    <a:pt x="0" y="22557"/>
                  </a:lnTo>
                  <a:cubicBezTo>
                    <a:pt x="0" y="16575"/>
                    <a:pt x="2377" y="10837"/>
                    <a:pt x="6607" y="6607"/>
                  </a:cubicBezTo>
                  <a:cubicBezTo>
                    <a:pt x="10837" y="2377"/>
                    <a:pt x="16575" y="0"/>
                    <a:pt x="225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10039" cy="2573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26004" y="2018731"/>
            <a:ext cx="8661996" cy="8268269"/>
          </a:xfrm>
          <a:custGeom>
            <a:avLst/>
            <a:gdLst/>
            <a:ahLst/>
            <a:cxnLst/>
            <a:rect r="r" b="b" t="t" l="l"/>
            <a:pathLst>
              <a:path h="8268269" w="8661996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643133" y="3223601"/>
            <a:ext cx="13095030" cy="396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3"/>
              </a:lnSpc>
            </a:pPr>
            <a:r>
              <a:rPr lang="en-US" sz="7556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MultiLayer Perceptron</a:t>
            </a:r>
            <a:r>
              <a:rPr lang="en-US" sz="7556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:</a:t>
            </a:r>
          </a:p>
          <a:p>
            <a:pPr algn="ctr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 Forward Propagation , Backward Propagation and Gradient Descent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6004" y="2018731"/>
            <a:ext cx="8661996" cy="8268269"/>
          </a:xfrm>
          <a:custGeom>
            <a:avLst/>
            <a:gdLst/>
            <a:ahLst/>
            <a:cxnLst/>
            <a:rect r="r" b="b" t="t" l="l"/>
            <a:pathLst>
              <a:path h="8268269" w="8661996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1514" y="3058099"/>
            <a:ext cx="10165690" cy="2279959"/>
          </a:xfrm>
          <a:custGeom>
            <a:avLst/>
            <a:gdLst/>
            <a:ahLst/>
            <a:cxnLst/>
            <a:rect r="r" b="b" t="t" l="l"/>
            <a:pathLst>
              <a:path h="2279959" w="10165690">
                <a:moveTo>
                  <a:pt x="0" y="0"/>
                </a:moveTo>
                <a:lnTo>
                  <a:pt x="10165690" y="0"/>
                </a:lnTo>
                <a:lnTo>
                  <a:pt x="10165690" y="2279959"/>
                </a:lnTo>
                <a:lnTo>
                  <a:pt x="0" y="2279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7640" y="399263"/>
            <a:ext cx="8876360" cy="156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1"/>
              </a:lnSpc>
            </a:pPr>
            <a:r>
              <a:rPr lang="en-US" sz="5894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 is the Chain Rule?</a:t>
            </a:r>
          </a:p>
          <a:p>
            <a:pPr algn="l" marL="0" indent="0" lvl="0">
              <a:lnSpc>
                <a:spcPts val="607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81514" y="2248914"/>
            <a:ext cx="8362486" cy="113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1"/>
              </a:lnSpc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chain rule is a fundamental concept in calculus that helps compute derivatives of composite functions.</a:t>
            </a:r>
          </a:p>
          <a:p>
            <a:pPr algn="just">
              <a:lnSpc>
                <a:spcPts val="300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623808"/>
            <a:ext cx="8362486" cy="304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1"/>
              </a:lnSpc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Mathematical Definition:</a:t>
            </a:r>
          </a:p>
          <a:p>
            <a:pPr algn="just">
              <a:lnSpc>
                <a:spcPts val="3001"/>
              </a:lnSpc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If a function g(x) is nested inside another function f(x), the derivative of f(g(x)) with respect to x is:</a:t>
            </a:r>
          </a:p>
          <a:p>
            <a:pPr algn="just">
              <a:lnSpc>
                <a:spcPts val="3001"/>
              </a:lnSpc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This means that:</a:t>
            </a:r>
          </a:p>
          <a:p>
            <a:pPr algn="just" marL="462806" indent="-231403" lvl="1">
              <a:lnSpc>
                <a:spcPts val="3001"/>
              </a:lnSpc>
              <a:buAutoNum type="arabicPeriod" startAt="1"/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First, take the derivative of the outer function f(x), but keep g(x) inside.</a:t>
            </a:r>
          </a:p>
          <a:p>
            <a:pPr algn="just" marL="462806" indent="-231403" lvl="1">
              <a:lnSpc>
                <a:spcPts val="3001"/>
              </a:lnSpc>
              <a:buAutoNum type="arabicPeriod" startAt="1"/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Then, multiply by the derivative of the inner function g(x).</a:t>
            </a:r>
          </a:p>
          <a:p>
            <a:pPr algn="just">
              <a:lnSpc>
                <a:spcPts val="3001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6004" y="2018731"/>
            <a:ext cx="8661996" cy="8268269"/>
          </a:xfrm>
          <a:custGeom>
            <a:avLst/>
            <a:gdLst/>
            <a:ahLst/>
            <a:cxnLst/>
            <a:rect r="r" b="b" t="t" l="l"/>
            <a:pathLst>
              <a:path h="8268269" w="8661996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67640" y="5835727"/>
            <a:ext cx="12514122" cy="2835231"/>
          </a:xfrm>
          <a:custGeom>
            <a:avLst/>
            <a:gdLst/>
            <a:ahLst/>
            <a:cxnLst/>
            <a:rect r="r" b="b" t="t" l="l"/>
            <a:pathLst>
              <a:path h="2835231" w="12514122">
                <a:moveTo>
                  <a:pt x="0" y="0"/>
                </a:moveTo>
                <a:lnTo>
                  <a:pt x="12514123" y="0"/>
                </a:lnTo>
                <a:lnTo>
                  <a:pt x="12514123" y="2835231"/>
                </a:lnTo>
                <a:lnTo>
                  <a:pt x="0" y="2835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7640" y="399263"/>
            <a:ext cx="9358363" cy="79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1"/>
              </a:lnSpc>
              <a:spcBef>
                <a:spcPct val="0"/>
              </a:spcBef>
            </a:pPr>
            <a:r>
              <a:rPr lang="en-US" sz="5894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Neural Network Example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7640" y="1594511"/>
            <a:ext cx="10024562" cy="363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7"/>
              </a:lnSpc>
            </a:pPr>
            <a:r>
              <a:rPr lang="en-US" sz="256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Step 1: Understanding the Network Structure</a:t>
            </a:r>
          </a:p>
          <a:p>
            <a:pPr algn="just">
              <a:lnSpc>
                <a:spcPts val="3597"/>
              </a:lnSpc>
            </a:pPr>
            <a:r>
              <a:rPr lang="en-US" sz="256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We have:</a:t>
            </a:r>
          </a:p>
          <a:p>
            <a:pPr algn="just" marL="554790" indent="-277395" lvl="1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Input Layer: 2 neurons</a:t>
            </a:r>
          </a:p>
          <a:p>
            <a:pPr algn="just" marL="554790" indent="-277395" lvl="1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Hidden Layer 1: 3 neurons (Weights: W1, Bias: b1)</a:t>
            </a:r>
          </a:p>
          <a:p>
            <a:pPr algn="just" marL="554790" indent="-277395" lvl="1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Hidden Layer 2: 2 neurons (Weights: W2, Bias: b2)</a:t>
            </a:r>
          </a:p>
          <a:p>
            <a:pPr algn="just" marL="554790" indent="-277395" lvl="1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Output Layer: 1 neuron (Weights: W3W3W3, Bias: b3b3b3)</a:t>
            </a:r>
          </a:p>
          <a:p>
            <a:pPr algn="just">
              <a:lnSpc>
                <a:spcPts val="3597"/>
              </a:lnSpc>
            </a:pPr>
          </a:p>
          <a:p>
            <a:pPr algn="just">
              <a:lnSpc>
                <a:spcPts val="3597"/>
              </a:lnSpc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6004" y="0"/>
            <a:ext cx="8661996" cy="8268269"/>
          </a:xfrm>
          <a:custGeom>
            <a:avLst/>
            <a:gdLst/>
            <a:ahLst/>
            <a:cxnLst/>
            <a:rect r="r" b="b" t="t" l="l"/>
            <a:pathLst>
              <a:path h="8268269" w="8661996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371751" y="3425041"/>
            <a:ext cx="1301693" cy="517878"/>
          </a:xfrm>
          <a:custGeom>
            <a:avLst/>
            <a:gdLst/>
            <a:ahLst/>
            <a:cxnLst/>
            <a:rect r="r" b="b" t="t" l="l"/>
            <a:pathLst>
              <a:path h="517878" w="1301693">
                <a:moveTo>
                  <a:pt x="0" y="0"/>
                </a:moveTo>
                <a:lnTo>
                  <a:pt x="1301694" y="0"/>
                </a:lnTo>
                <a:lnTo>
                  <a:pt x="1301694" y="517878"/>
                </a:lnTo>
                <a:lnTo>
                  <a:pt x="0" y="517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09114"/>
            <a:ext cx="18288000" cy="9110610"/>
          </a:xfrm>
          <a:custGeom>
            <a:avLst/>
            <a:gdLst/>
            <a:ahLst/>
            <a:cxnLst/>
            <a:rect r="r" b="b" t="t" l="l"/>
            <a:pathLst>
              <a:path h="9110610" w="18288000">
                <a:moveTo>
                  <a:pt x="0" y="0"/>
                </a:moveTo>
                <a:lnTo>
                  <a:pt x="18288000" y="0"/>
                </a:lnTo>
                <a:lnTo>
                  <a:pt x="18288000" y="9110611"/>
                </a:lnTo>
                <a:lnTo>
                  <a:pt x="0" y="9110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64" t="0" r="-96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24767" y="3143944"/>
            <a:ext cx="1374254" cy="562195"/>
          </a:xfrm>
          <a:custGeom>
            <a:avLst/>
            <a:gdLst/>
            <a:ahLst/>
            <a:cxnLst/>
            <a:rect r="r" b="b" t="t" l="l"/>
            <a:pathLst>
              <a:path h="562195" w="1374254">
                <a:moveTo>
                  <a:pt x="0" y="0"/>
                </a:moveTo>
                <a:lnTo>
                  <a:pt x="1374254" y="0"/>
                </a:lnTo>
                <a:lnTo>
                  <a:pt x="1374254" y="562194"/>
                </a:lnTo>
                <a:lnTo>
                  <a:pt x="0" y="562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38964" y="5673738"/>
            <a:ext cx="1485850" cy="575168"/>
          </a:xfrm>
          <a:custGeom>
            <a:avLst/>
            <a:gdLst/>
            <a:ahLst/>
            <a:cxnLst/>
            <a:rect r="r" b="b" t="t" l="l"/>
            <a:pathLst>
              <a:path h="575168" w="1485850">
                <a:moveTo>
                  <a:pt x="0" y="0"/>
                </a:moveTo>
                <a:lnTo>
                  <a:pt x="1485850" y="0"/>
                </a:lnTo>
                <a:lnTo>
                  <a:pt x="1485850" y="575168"/>
                </a:lnTo>
                <a:lnTo>
                  <a:pt x="0" y="5751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59569" y="7982456"/>
            <a:ext cx="1444640" cy="587935"/>
          </a:xfrm>
          <a:custGeom>
            <a:avLst/>
            <a:gdLst/>
            <a:ahLst/>
            <a:cxnLst/>
            <a:rect r="r" b="b" t="t" l="l"/>
            <a:pathLst>
              <a:path h="587935" w="1444640">
                <a:moveTo>
                  <a:pt x="0" y="0"/>
                </a:moveTo>
                <a:lnTo>
                  <a:pt x="1444640" y="0"/>
                </a:lnTo>
                <a:lnTo>
                  <a:pt x="1444640" y="587934"/>
                </a:lnTo>
                <a:lnTo>
                  <a:pt x="0" y="5879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94895" y="3899384"/>
            <a:ext cx="1504449" cy="556646"/>
          </a:xfrm>
          <a:custGeom>
            <a:avLst/>
            <a:gdLst/>
            <a:ahLst/>
            <a:cxnLst/>
            <a:rect r="r" b="b" t="t" l="l"/>
            <a:pathLst>
              <a:path h="556646" w="1504449">
                <a:moveTo>
                  <a:pt x="0" y="0"/>
                </a:moveTo>
                <a:lnTo>
                  <a:pt x="1504448" y="0"/>
                </a:lnTo>
                <a:lnTo>
                  <a:pt x="1504448" y="556646"/>
                </a:lnTo>
                <a:lnTo>
                  <a:pt x="0" y="5566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47418" y="6747400"/>
            <a:ext cx="1486234" cy="660548"/>
          </a:xfrm>
          <a:custGeom>
            <a:avLst/>
            <a:gdLst/>
            <a:ahLst/>
            <a:cxnLst/>
            <a:rect r="r" b="b" t="t" l="l"/>
            <a:pathLst>
              <a:path h="660548" w="1486234">
                <a:moveTo>
                  <a:pt x="0" y="0"/>
                </a:moveTo>
                <a:lnTo>
                  <a:pt x="1486234" y="0"/>
                </a:lnTo>
                <a:lnTo>
                  <a:pt x="1486234" y="660549"/>
                </a:lnTo>
                <a:lnTo>
                  <a:pt x="0" y="6605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03961" y="5250595"/>
            <a:ext cx="1382172" cy="574611"/>
          </a:xfrm>
          <a:custGeom>
            <a:avLst/>
            <a:gdLst/>
            <a:ahLst/>
            <a:cxnLst/>
            <a:rect r="r" b="b" t="t" l="l"/>
            <a:pathLst>
              <a:path h="574611" w="1382172">
                <a:moveTo>
                  <a:pt x="0" y="0"/>
                </a:moveTo>
                <a:lnTo>
                  <a:pt x="1382172" y="0"/>
                </a:lnTo>
                <a:lnTo>
                  <a:pt x="1382172" y="574610"/>
                </a:lnTo>
                <a:lnTo>
                  <a:pt x="0" y="5746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6004" y="2018731"/>
            <a:ext cx="8661996" cy="8268269"/>
          </a:xfrm>
          <a:custGeom>
            <a:avLst/>
            <a:gdLst/>
            <a:ahLst/>
            <a:cxnLst/>
            <a:rect r="r" b="b" t="t" l="l"/>
            <a:pathLst>
              <a:path h="8268269" w="8661996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67640" y="389738"/>
            <a:ext cx="11537466" cy="151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5701" b="true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 is Forward Propagation?</a:t>
            </a:r>
          </a:p>
          <a:p>
            <a:pPr algn="l" marL="0" indent="0" lvl="0">
              <a:lnSpc>
                <a:spcPts val="587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7640" y="2510589"/>
            <a:ext cx="9493474" cy="245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6"/>
              </a:lnSpc>
            </a:pPr>
            <a:r>
              <a:rPr lang="en-US" sz="353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Forward Propagation is the process of passing input data through the neural network to generate an output. It gives us the value we want to predict. 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6004" y="2018731"/>
            <a:ext cx="8661996" cy="8268269"/>
          </a:xfrm>
          <a:custGeom>
            <a:avLst/>
            <a:gdLst/>
            <a:ahLst/>
            <a:cxnLst/>
            <a:rect r="r" b="b" t="t" l="l"/>
            <a:pathLst>
              <a:path h="8268269" w="8661996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1380236"/>
            <a:ext cx="18288000" cy="7251600"/>
          </a:xfrm>
          <a:custGeom>
            <a:avLst/>
            <a:gdLst/>
            <a:ahLst/>
            <a:cxnLst/>
            <a:rect r="r" b="b" t="t" l="l"/>
            <a:pathLst>
              <a:path h="7251600" w="18288000">
                <a:moveTo>
                  <a:pt x="0" y="0"/>
                </a:moveTo>
                <a:lnTo>
                  <a:pt x="18288000" y="0"/>
                </a:lnTo>
                <a:lnTo>
                  <a:pt x="18288000" y="7251600"/>
                </a:lnTo>
                <a:lnTo>
                  <a:pt x="0" y="7251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7" r="0" b="-1215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64538" y="125043"/>
            <a:ext cx="8523462" cy="4013578"/>
          </a:xfrm>
          <a:custGeom>
            <a:avLst/>
            <a:gdLst/>
            <a:ahLst/>
            <a:cxnLst/>
            <a:rect r="r" b="b" t="t" l="l"/>
            <a:pathLst>
              <a:path h="4013578" w="8523462">
                <a:moveTo>
                  <a:pt x="0" y="0"/>
                </a:moveTo>
                <a:lnTo>
                  <a:pt x="8523462" y="0"/>
                </a:lnTo>
                <a:lnTo>
                  <a:pt x="8523462" y="4013577"/>
                </a:lnTo>
                <a:lnTo>
                  <a:pt x="0" y="4013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" r="-2457" b="-4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8115" y="1221431"/>
            <a:ext cx="9496423" cy="6902862"/>
          </a:xfrm>
          <a:custGeom>
            <a:avLst/>
            <a:gdLst/>
            <a:ahLst/>
            <a:cxnLst/>
            <a:rect r="r" b="b" t="t" l="l"/>
            <a:pathLst>
              <a:path h="6902862" w="9496423">
                <a:moveTo>
                  <a:pt x="0" y="0"/>
                </a:moveTo>
                <a:lnTo>
                  <a:pt x="9496423" y="0"/>
                </a:lnTo>
                <a:lnTo>
                  <a:pt x="9496423" y="6902862"/>
                </a:lnTo>
                <a:lnTo>
                  <a:pt x="0" y="6902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8115" y="210768"/>
            <a:ext cx="11054899" cy="6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sz="4849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Forward Propagation Calculation 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0673" y="3160906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7" y="0"/>
                </a:lnTo>
                <a:lnTo>
                  <a:pt x="13511077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416" y="1644630"/>
            <a:ext cx="8465811" cy="7808981"/>
          </a:xfrm>
          <a:custGeom>
            <a:avLst/>
            <a:gdLst/>
            <a:ahLst/>
            <a:cxnLst/>
            <a:rect r="r" b="b" t="t" l="l"/>
            <a:pathLst>
              <a:path h="7808981" w="8465811">
                <a:moveTo>
                  <a:pt x="0" y="0"/>
                </a:moveTo>
                <a:lnTo>
                  <a:pt x="8465811" y="0"/>
                </a:lnTo>
                <a:lnTo>
                  <a:pt x="8465811" y="7808981"/>
                </a:lnTo>
                <a:lnTo>
                  <a:pt x="0" y="7808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63969" y="1644630"/>
            <a:ext cx="7324664" cy="7808981"/>
          </a:xfrm>
          <a:custGeom>
            <a:avLst/>
            <a:gdLst/>
            <a:ahLst/>
            <a:cxnLst/>
            <a:rect r="r" b="b" t="t" l="l"/>
            <a:pathLst>
              <a:path h="7808981" w="7324664">
                <a:moveTo>
                  <a:pt x="0" y="0"/>
                </a:moveTo>
                <a:lnTo>
                  <a:pt x="7324664" y="0"/>
                </a:lnTo>
                <a:lnTo>
                  <a:pt x="7324664" y="7808981"/>
                </a:lnTo>
                <a:lnTo>
                  <a:pt x="0" y="7808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17" r="0" b="-71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416" y="352549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First Hidden Layer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0673" y="3160906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7" y="0"/>
                </a:lnTo>
                <a:lnTo>
                  <a:pt x="13511077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416" y="4187500"/>
            <a:ext cx="11573356" cy="5070800"/>
          </a:xfrm>
          <a:custGeom>
            <a:avLst/>
            <a:gdLst/>
            <a:ahLst/>
            <a:cxnLst/>
            <a:rect r="r" b="b" t="t" l="l"/>
            <a:pathLst>
              <a:path h="5070800" w="11573356">
                <a:moveTo>
                  <a:pt x="0" y="0"/>
                </a:moveTo>
                <a:lnTo>
                  <a:pt x="11573356" y="0"/>
                </a:lnTo>
                <a:lnTo>
                  <a:pt x="11573356" y="5070800"/>
                </a:lnTo>
                <a:lnTo>
                  <a:pt x="0" y="507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416" y="580453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Second Hidden Layer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998513" y="0"/>
            <a:ext cx="8289487" cy="3813164"/>
          </a:xfrm>
          <a:custGeom>
            <a:avLst/>
            <a:gdLst/>
            <a:ahLst/>
            <a:cxnLst/>
            <a:rect r="r" b="b" t="t" l="l"/>
            <a:pathLst>
              <a:path h="3813164" w="8289487">
                <a:moveTo>
                  <a:pt x="0" y="0"/>
                </a:moveTo>
                <a:lnTo>
                  <a:pt x="8289487" y="0"/>
                </a:lnTo>
                <a:lnTo>
                  <a:pt x="8289487" y="3813164"/>
                </a:lnTo>
                <a:lnTo>
                  <a:pt x="0" y="3813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408" y="1893074"/>
            <a:ext cx="9353744" cy="6500852"/>
          </a:xfrm>
          <a:custGeom>
            <a:avLst/>
            <a:gdLst/>
            <a:ahLst/>
            <a:cxnLst/>
            <a:rect r="r" b="b" t="t" l="l"/>
            <a:pathLst>
              <a:path h="6500852" w="9353744">
                <a:moveTo>
                  <a:pt x="0" y="0"/>
                </a:moveTo>
                <a:lnTo>
                  <a:pt x="9353744" y="0"/>
                </a:lnTo>
                <a:lnTo>
                  <a:pt x="9353744" y="6500852"/>
                </a:lnTo>
                <a:lnTo>
                  <a:pt x="0" y="6500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44874" y="1893074"/>
            <a:ext cx="8155251" cy="3930564"/>
          </a:xfrm>
          <a:custGeom>
            <a:avLst/>
            <a:gdLst/>
            <a:ahLst/>
            <a:cxnLst/>
            <a:rect r="r" b="b" t="t" l="l"/>
            <a:pathLst>
              <a:path h="3930564" w="8155251">
                <a:moveTo>
                  <a:pt x="0" y="0"/>
                </a:moveTo>
                <a:lnTo>
                  <a:pt x="8155252" y="0"/>
                </a:lnTo>
                <a:lnTo>
                  <a:pt x="8155252" y="3930564"/>
                </a:lnTo>
                <a:lnTo>
                  <a:pt x="0" y="3930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416" y="352549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Second Hidden Layer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74865" y="-1938658"/>
            <a:ext cx="13511078" cy="13173301"/>
          </a:xfrm>
          <a:custGeom>
            <a:avLst/>
            <a:gdLst/>
            <a:ahLst/>
            <a:cxnLst/>
            <a:rect r="r" b="b" t="t" l="l"/>
            <a:pathLst>
              <a:path h="13173301" w="13511078">
                <a:moveTo>
                  <a:pt x="0" y="0"/>
                </a:moveTo>
                <a:lnTo>
                  <a:pt x="13511078" y="0"/>
                </a:lnTo>
                <a:lnTo>
                  <a:pt x="13511078" y="13173301"/>
                </a:lnTo>
                <a:lnTo>
                  <a:pt x="0" y="131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416" y="1473864"/>
            <a:ext cx="8414980" cy="5755204"/>
          </a:xfrm>
          <a:custGeom>
            <a:avLst/>
            <a:gdLst/>
            <a:ahLst/>
            <a:cxnLst/>
            <a:rect r="r" b="b" t="t" l="l"/>
            <a:pathLst>
              <a:path h="5755204" w="8414980">
                <a:moveTo>
                  <a:pt x="0" y="0"/>
                </a:moveTo>
                <a:lnTo>
                  <a:pt x="8414980" y="0"/>
                </a:lnTo>
                <a:lnTo>
                  <a:pt x="8414980" y="5755205"/>
                </a:lnTo>
                <a:lnTo>
                  <a:pt x="0" y="5755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7416" y="6885865"/>
            <a:ext cx="8414980" cy="2702523"/>
          </a:xfrm>
          <a:custGeom>
            <a:avLst/>
            <a:gdLst/>
            <a:ahLst/>
            <a:cxnLst/>
            <a:rect r="r" b="b" t="t" l="l"/>
            <a:pathLst>
              <a:path h="2702523" w="8414980">
                <a:moveTo>
                  <a:pt x="0" y="0"/>
                </a:moveTo>
                <a:lnTo>
                  <a:pt x="8414980" y="0"/>
                </a:lnTo>
                <a:lnTo>
                  <a:pt x="8414980" y="2702523"/>
                </a:lnTo>
                <a:lnTo>
                  <a:pt x="0" y="2702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51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416" y="352549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Output Layer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45485" y="-10158"/>
            <a:ext cx="8742515" cy="4021557"/>
          </a:xfrm>
          <a:custGeom>
            <a:avLst/>
            <a:gdLst/>
            <a:ahLst/>
            <a:cxnLst/>
            <a:rect r="r" b="b" t="t" l="l"/>
            <a:pathLst>
              <a:path h="4021557" w="8742515">
                <a:moveTo>
                  <a:pt x="0" y="0"/>
                </a:moveTo>
                <a:lnTo>
                  <a:pt x="8742515" y="0"/>
                </a:lnTo>
                <a:lnTo>
                  <a:pt x="8742515" y="4021557"/>
                </a:lnTo>
                <a:lnTo>
                  <a:pt x="0" y="40215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83386" y="513759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6527" y="495661"/>
            <a:ext cx="1239387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 Gradient Descent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527" y="2563705"/>
            <a:ext cx="17461993" cy="784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319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1. Introduction to Gradient Descent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Gradient Descent is an optimization algorithm used to minimize loss functions by adjusting model parameters iteratively.</a:t>
            </a:r>
          </a:p>
          <a:p>
            <a:pPr algn="l">
              <a:lnSpc>
                <a:spcPts val="4473"/>
              </a:lnSpc>
            </a:pPr>
          </a:p>
          <a:p>
            <a:pPr algn="l">
              <a:lnSpc>
                <a:spcPts val="4473"/>
              </a:lnSpc>
            </a:pPr>
            <a:r>
              <a:rPr lang="en-US" sz="319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2. Intuition: Finding the Lowest Point in a Valley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Imagine standing on top of a </a:t>
            </a:r>
            <a:r>
              <a:rPr lang="en-US" b="true" sz="31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hill</a:t>
            </a: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(high loss value).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Your goal is to reach the lowest point (optimal model parameters).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You look around and take </a:t>
            </a:r>
            <a:r>
              <a:rPr lang="en-US" b="true" sz="31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small steps in the steepest downward direction</a:t>
            </a: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If steps are too </a:t>
            </a:r>
            <a:r>
              <a:rPr lang="en-US" b="true" sz="31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big</a:t>
            </a: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you might overshoot the lowest point.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If steps are too </a:t>
            </a:r>
            <a:r>
              <a:rPr lang="en-US" b="true" sz="31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small</a:t>
            </a: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progress will be slow.</a:t>
            </a:r>
          </a:p>
          <a:p>
            <a:pPr algn="l" marL="689810" indent="-344905" lvl="1">
              <a:lnSpc>
                <a:spcPts val="4473"/>
              </a:lnSpc>
              <a:buFont typeface="Arial"/>
              <a:buChar char="•"/>
            </a:pP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Eventually, after many steps, you reach the lowest point—this is how Gradient Descent finds the </a:t>
            </a:r>
            <a:r>
              <a:rPr lang="en-US" b="true" sz="319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optimal parameters</a:t>
            </a:r>
            <a:r>
              <a:rPr lang="en-US" sz="319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in a neural network.</a:t>
            </a:r>
          </a:p>
          <a:p>
            <a:pPr algn="l">
              <a:lnSpc>
                <a:spcPts val="4473"/>
              </a:lnSpc>
            </a:pPr>
          </a:p>
          <a:p>
            <a:pPr algn="l">
              <a:lnSpc>
                <a:spcPts val="447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83386" y="513759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40849" y="1236501"/>
            <a:ext cx="14042537" cy="8021799"/>
          </a:xfrm>
          <a:custGeom>
            <a:avLst/>
            <a:gdLst/>
            <a:ahLst/>
            <a:cxnLst/>
            <a:rect r="r" b="b" t="t" l="l"/>
            <a:pathLst>
              <a:path h="8021799" w="14042537">
                <a:moveTo>
                  <a:pt x="0" y="0"/>
                </a:moveTo>
                <a:lnTo>
                  <a:pt x="14042537" y="0"/>
                </a:lnTo>
                <a:lnTo>
                  <a:pt x="14042537" y="8021799"/>
                </a:lnTo>
                <a:lnTo>
                  <a:pt x="0" y="8021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7416" y="3489392"/>
            <a:ext cx="11266505" cy="5768908"/>
          </a:xfrm>
          <a:custGeom>
            <a:avLst/>
            <a:gdLst/>
            <a:ahLst/>
            <a:cxnLst/>
            <a:rect r="r" b="b" t="t" l="l"/>
            <a:pathLst>
              <a:path h="5768908" w="11266505">
                <a:moveTo>
                  <a:pt x="0" y="0"/>
                </a:moveTo>
                <a:lnTo>
                  <a:pt x="11266506" y="0"/>
                </a:lnTo>
                <a:lnTo>
                  <a:pt x="11266506" y="5768908"/>
                </a:lnTo>
                <a:lnTo>
                  <a:pt x="0" y="5768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7416" y="352549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Backward Propagation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416" y="2010652"/>
            <a:ext cx="7372809" cy="75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1"/>
              </a:lnSpc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BackPropagation is the process of adjusting weights to reduce the error in predictions.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7416" y="4011399"/>
            <a:ext cx="6931651" cy="5834320"/>
          </a:xfrm>
          <a:custGeom>
            <a:avLst/>
            <a:gdLst/>
            <a:ahLst/>
            <a:cxnLst/>
            <a:rect r="r" b="b" t="t" l="l"/>
            <a:pathLst>
              <a:path h="5834320" w="6931651">
                <a:moveTo>
                  <a:pt x="0" y="0"/>
                </a:moveTo>
                <a:lnTo>
                  <a:pt x="6931651" y="0"/>
                </a:lnTo>
                <a:lnTo>
                  <a:pt x="6931651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38527" y="4011399"/>
            <a:ext cx="7727576" cy="5834320"/>
          </a:xfrm>
          <a:custGeom>
            <a:avLst/>
            <a:gdLst/>
            <a:ahLst/>
            <a:cxnLst/>
            <a:rect r="r" b="b" t="t" l="l"/>
            <a:pathLst>
              <a:path h="5834320" w="7727576">
                <a:moveTo>
                  <a:pt x="0" y="0"/>
                </a:moveTo>
                <a:lnTo>
                  <a:pt x="7727576" y="0"/>
                </a:lnTo>
                <a:lnTo>
                  <a:pt x="7727576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416" y="352549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Backward Propagation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7416" y="1505488"/>
            <a:ext cx="7372809" cy="37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1"/>
              </a:lnSpc>
            </a:pPr>
            <a:r>
              <a:rPr lang="en-US" sz="214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Step 1: Compute Gradients for W3 and b3 (Output Layer)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71377" y="-10158"/>
            <a:ext cx="8216623" cy="3779646"/>
          </a:xfrm>
          <a:custGeom>
            <a:avLst/>
            <a:gdLst/>
            <a:ahLst/>
            <a:cxnLst/>
            <a:rect r="r" b="b" t="t" l="l"/>
            <a:pathLst>
              <a:path h="3779646" w="8216623">
                <a:moveTo>
                  <a:pt x="0" y="0"/>
                </a:moveTo>
                <a:lnTo>
                  <a:pt x="8216623" y="0"/>
                </a:lnTo>
                <a:lnTo>
                  <a:pt x="8216623" y="3779646"/>
                </a:lnTo>
                <a:lnTo>
                  <a:pt x="0" y="3779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2297" y="2384011"/>
            <a:ext cx="7726781" cy="6093477"/>
          </a:xfrm>
          <a:custGeom>
            <a:avLst/>
            <a:gdLst/>
            <a:ahLst/>
            <a:cxnLst/>
            <a:rect r="r" b="b" t="t" l="l"/>
            <a:pathLst>
              <a:path h="6093477" w="7726781">
                <a:moveTo>
                  <a:pt x="0" y="0"/>
                </a:moveTo>
                <a:lnTo>
                  <a:pt x="7726781" y="0"/>
                </a:lnTo>
                <a:lnTo>
                  <a:pt x="7726781" y="6093478"/>
                </a:lnTo>
                <a:lnTo>
                  <a:pt x="0" y="6093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79539" y="2384011"/>
            <a:ext cx="9756854" cy="6030384"/>
          </a:xfrm>
          <a:custGeom>
            <a:avLst/>
            <a:gdLst/>
            <a:ahLst/>
            <a:cxnLst/>
            <a:rect r="r" b="b" t="t" l="l"/>
            <a:pathLst>
              <a:path h="6030384" w="9756854">
                <a:moveTo>
                  <a:pt x="0" y="0"/>
                </a:moveTo>
                <a:lnTo>
                  <a:pt x="9756854" y="0"/>
                </a:lnTo>
                <a:lnTo>
                  <a:pt x="9756854" y="6030384"/>
                </a:lnTo>
                <a:lnTo>
                  <a:pt x="0" y="603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40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416" y="352549"/>
            <a:ext cx="11054899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Backward Propagation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7416" y="1782688"/>
            <a:ext cx="11202463" cy="2505622"/>
          </a:xfrm>
          <a:custGeom>
            <a:avLst/>
            <a:gdLst/>
            <a:ahLst/>
            <a:cxnLst/>
            <a:rect r="r" b="b" t="t" l="l"/>
            <a:pathLst>
              <a:path h="2505622" w="11202463">
                <a:moveTo>
                  <a:pt x="0" y="0"/>
                </a:moveTo>
                <a:lnTo>
                  <a:pt x="11202463" y="0"/>
                </a:lnTo>
                <a:lnTo>
                  <a:pt x="11202463" y="2505623"/>
                </a:lnTo>
                <a:lnTo>
                  <a:pt x="0" y="2505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416" y="4852650"/>
            <a:ext cx="8333823" cy="3925145"/>
          </a:xfrm>
          <a:custGeom>
            <a:avLst/>
            <a:gdLst/>
            <a:ahLst/>
            <a:cxnLst/>
            <a:rect r="r" b="b" t="t" l="l"/>
            <a:pathLst>
              <a:path h="3925145" w="8333823">
                <a:moveTo>
                  <a:pt x="0" y="0"/>
                </a:moveTo>
                <a:lnTo>
                  <a:pt x="8333824" y="0"/>
                </a:lnTo>
                <a:lnTo>
                  <a:pt x="8333824" y="3925146"/>
                </a:lnTo>
                <a:lnTo>
                  <a:pt x="0" y="3925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88128" y="4852650"/>
            <a:ext cx="7863733" cy="3925145"/>
          </a:xfrm>
          <a:custGeom>
            <a:avLst/>
            <a:gdLst/>
            <a:ahLst/>
            <a:cxnLst/>
            <a:rect r="r" b="b" t="t" l="l"/>
            <a:pathLst>
              <a:path h="3925145" w="7863733">
                <a:moveTo>
                  <a:pt x="0" y="0"/>
                </a:moveTo>
                <a:lnTo>
                  <a:pt x="7863733" y="0"/>
                </a:lnTo>
                <a:lnTo>
                  <a:pt x="7863733" y="3925146"/>
                </a:lnTo>
                <a:lnTo>
                  <a:pt x="0" y="3925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416" y="352549"/>
            <a:ext cx="12492833" cy="6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b="true" sz="4849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Gradient Descent Updates for Each Layer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83386" y="513759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6527" y="495661"/>
            <a:ext cx="1239387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Types of Gradient Descent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527" y="2525605"/>
            <a:ext cx="6985991" cy="36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1599" indent="-560800" lvl="1">
              <a:lnSpc>
                <a:spcPts val="7272"/>
              </a:lnSpc>
              <a:buFont typeface="Arial"/>
              <a:buChar char="•"/>
            </a:pPr>
            <a:r>
              <a:rPr lang="en-US" sz="51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Full Batch</a:t>
            </a:r>
          </a:p>
          <a:p>
            <a:pPr algn="l" marL="1121599" indent="-560800" lvl="1">
              <a:lnSpc>
                <a:spcPts val="7272"/>
              </a:lnSpc>
              <a:buFont typeface="Arial"/>
              <a:buChar char="•"/>
            </a:pPr>
            <a:r>
              <a:rPr lang="en-US" sz="51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Stochastic</a:t>
            </a:r>
          </a:p>
          <a:p>
            <a:pPr algn="l" marL="1121599" indent="-560800" lvl="1">
              <a:lnSpc>
                <a:spcPts val="7272"/>
              </a:lnSpc>
              <a:buFont typeface="Arial"/>
              <a:buChar char="•"/>
            </a:pPr>
            <a:r>
              <a:rPr lang="en-US" sz="51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Mini Batch</a:t>
            </a:r>
          </a:p>
          <a:p>
            <a:pPr algn="l">
              <a:lnSpc>
                <a:spcPts val="72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83386" y="771230"/>
            <a:ext cx="8657966" cy="514941"/>
            <a:chOff x="0" y="0"/>
            <a:chExt cx="2280287" cy="13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0287" cy="135622"/>
            </a:xfrm>
            <a:custGeom>
              <a:avLst/>
              <a:gdLst/>
              <a:ahLst/>
              <a:cxnLst/>
              <a:rect r="r" b="b" t="t" l="l"/>
              <a:pathLst>
                <a:path h="135622" w="228028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6527" y="495661"/>
            <a:ext cx="1554686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  <a:spcBef>
                <a:spcPct val="0"/>
              </a:spcBef>
            </a:pPr>
            <a:r>
              <a:rPr lang="en-US" b="true" sz="7500">
                <a:solidFill>
                  <a:srgbClr val="004AAD"/>
                </a:solidFill>
                <a:latin typeface="Literata Bold"/>
                <a:ea typeface="Literata Bold"/>
                <a:cs typeface="Literata Bold"/>
                <a:sym typeface="Literata Bold"/>
              </a:rPr>
              <a:t>How Gradient Descent Works in Neural Networks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527" y="2573230"/>
            <a:ext cx="16357273" cy="627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5"/>
              </a:lnSpc>
            </a:pPr>
          </a:p>
          <a:p>
            <a:pPr algn="l" marL="512894" indent="-256447" lvl="1">
              <a:lnSpc>
                <a:spcPts val="3325"/>
              </a:lnSpc>
              <a:buAutoNum type="arabicPeriod" startAt="1"/>
            </a:pPr>
            <a:r>
              <a:rPr lang="en-US" b="true" sz="237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Forward Propagation</a:t>
            </a: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Inputs are passed through the network.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Each layer applies weights and biases to compute an output.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final output is compared to the actual value using a loss function.</a:t>
            </a:r>
          </a:p>
          <a:p>
            <a:pPr algn="l" marL="512894" indent="-256447" lvl="1">
              <a:lnSpc>
                <a:spcPts val="3325"/>
              </a:lnSpc>
              <a:buAutoNum type="arabicPeriod" startAt="1"/>
            </a:pPr>
            <a:r>
              <a:rPr lang="en-US" b="true" sz="237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Computing the Loss</a:t>
            </a: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loss function (e.g., Mean Squared Error, Cross-Entropy) quantifies the difference between predicted and actual values.</a:t>
            </a:r>
          </a:p>
          <a:p>
            <a:pPr algn="l" marL="512894" indent="-256447" lvl="1">
              <a:lnSpc>
                <a:spcPts val="3325"/>
              </a:lnSpc>
              <a:buAutoNum type="arabicPeriod" startAt="1"/>
            </a:pPr>
            <a:r>
              <a:rPr lang="en-US" b="true" sz="237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Backpropagation &amp; Gradient Calculation</a:t>
            </a: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Using </a:t>
            </a:r>
            <a:r>
              <a:rPr lang="en-US" b="true" sz="237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backpropagation</a:t>
            </a: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, we compute gradients of the loss function with respect to each weight and bias using the chain rule of calculus.</a:t>
            </a:r>
          </a:p>
          <a:p>
            <a:pPr algn="l" marL="512894" indent="-256447" lvl="1">
              <a:lnSpc>
                <a:spcPts val="3325"/>
              </a:lnSpc>
              <a:buAutoNum type="arabicPeriod" startAt="1"/>
            </a:pPr>
            <a:r>
              <a:rPr lang="en-US" b="true" sz="2375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Parameter Update using Gradient Descent</a:t>
            </a: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: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  <a:r>
              <a:rPr lang="en-US" sz="23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gradients indicate how much each weight should be adjusted.</a:t>
            </a:r>
          </a:p>
          <a:p>
            <a:pPr algn="l" marL="1025787" indent="-341929" lvl="2">
              <a:lnSpc>
                <a:spcPts val="3325"/>
              </a:lnSpc>
              <a:buFont typeface="Arial"/>
              <a:buChar char="⚬"/>
            </a:pPr>
          </a:p>
          <a:p>
            <a:pPr algn="l">
              <a:lnSpc>
                <a:spcPts val="33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43885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1783080"/>
            <a:ext cx="18288000" cy="6720840"/>
          </a:xfrm>
          <a:custGeom>
            <a:avLst/>
            <a:gdLst/>
            <a:ahLst/>
            <a:cxnLst/>
            <a:rect r="r" b="b" t="t" l="l"/>
            <a:pathLst>
              <a:path h="6720840" w="18288000">
                <a:moveTo>
                  <a:pt x="0" y="0"/>
                </a:moveTo>
                <a:lnTo>
                  <a:pt x="18288000" y="0"/>
                </a:lnTo>
                <a:lnTo>
                  <a:pt x="18288000" y="6720840"/>
                </a:lnTo>
                <a:lnTo>
                  <a:pt x="0" y="6720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4164" y="1954516"/>
            <a:ext cx="8624345" cy="8624345"/>
          </a:xfrm>
          <a:custGeom>
            <a:avLst/>
            <a:gdLst/>
            <a:ahLst/>
            <a:cxnLst/>
            <a:rect r="r" b="b" t="t" l="l"/>
            <a:pathLst>
              <a:path h="8624345" w="8624345">
                <a:moveTo>
                  <a:pt x="0" y="0"/>
                </a:moveTo>
                <a:lnTo>
                  <a:pt x="8624345" y="0"/>
                </a:lnTo>
                <a:lnTo>
                  <a:pt x="8624345" y="8624345"/>
                </a:lnTo>
                <a:lnTo>
                  <a:pt x="0" y="862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-186569" y="-483186"/>
            <a:ext cx="8624345" cy="8624345"/>
          </a:xfrm>
          <a:custGeom>
            <a:avLst/>
            <a:gdLst/>
            <a:ahLst/>
            <a:cxnLst/>
            <a:rect r="r" b="b" t="t" l="l"/>
            <a:pathLst>
              <a:path h="8624345" w="8624345">
                <a:moveTo>
                  <a:pt x="0" y="0"/>
                </a:moveTo>
                <a:lnTo>
                  <a:pt x="8624345" y="0"/>
                </a:lnTo>
                <a:lnTo>
                  <a:pt x="8624345" y="8624346"/>
                </a:lnTo>
                <a:lnTo>
                  <a:pt x="0" y="8624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782606" y="3339050"/>
            <a:ext cx="14722788" cy="259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2"/>
              </a:lnSpc>
              <a:spcBef>
                <a:spcPct val="0"/>
              </a:spcBef>
            </a:pPr>
            <a:r>
              <a:rPr lang="en-US" sz="19206" strike="noStrike" u="none">
                <a:solidFill>
                  <a:srgbClr val="004AAD"/>
                </a:solidFill>
                <a:latin typeface="Literata"/>
                <a:ea typeface="Literata"/>
                <a:cs typeface="Literata"/>
                <a:sym typeface="Literata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DAGfBC2M5yI</dc:identifier>
  <dcterms:modified xsi:type="dcterms:W3CDTF">2011-08-01T06:04:30Z</dcterms:modified>
  <cp:revision>1</cp:revision>
  <dc:title>Regression is a statistical and machine learning technique used to analyze the relationship between variables and make predictions. It helps in understanding how the dependent variable (output) changes based on independent variables (inputs).</dc:title>
</cp:coreProperties>
</file>